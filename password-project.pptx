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48650" y="1137285"/>
            <a:ext cx="1790700" cy="1790700"/>
          </a:xfrm>
          <a:prstGeom prst="ellipse">
            <a:avLst/>
          </a:prstGeom>
          <a:solidFill>
            <a:srgbClr val="10B981">
              <a:alpha val="16000"/>
            </a:srgbClr>
          </a:solidFill>
          <a:ln w="7620">
            <a:solidFill>
              <a:srgbClr val="10B981">
                <a:alpha val="45000"/>
              </a:srgbClr>
            </a:solidFill>
            <a:prstDash val="solid"/>
          </a:ln>
          <a:effectLst>
            <a:outerShdw sx="100000" sy="100000" kx="0" ky="0" algn="bl" rotWithShape="0" blurRad="571500" dist="50800" dir="16200000">
              <a:srgbClr val="10B981">
                <a:alpha val="3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4900" y="1613535"/>
            <a:ext cx="838200" cy="838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92996" y="3442335"/>
            <a:ext cx="5702008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700" b="1" spc="-261" kern="0" dirty="0">
                <a:solidFill>
                  <a:srgbClr val="F1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PassGuard</a:t>
            </a:r>
            <a:endParaRPr lang="en-US" sz="8700" dirty="0"/>
          </a:p>
        </p:txBody>
      </p:sp>
      <p:sp>
        <p:nvSpPr>
          <p:cNvPr id="5" name="Text 2"/>
          <p:cNvSpPr/>
          <p:nvPr/>
        </p:nvSpPr>
        <p:spPr>
          <a:xfrm>
            <a:off x="3257550" y="4813935"/>
            <a:ext cx="11772900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Web-Based Password Strength Meter &amp; Breached Credential Checker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214461" y="6261735"/>
            <a:ext cx="4674275" cy="502920"/>
          </a:xfrm>
          <a:prstGeom prst="roundRect">
            <a:avLst>
              <a:gd name="adj" fmla="val 50000"/>
            </a:avLst>
          </a:prstGeom>
          <a:solidFill>
            <a:srgbClr val="10B981">
              <a:alpha val="7000"/>
            </a:srgbClr>
          </a:solidFill>
          <a:ln w="7620">
            <a:solidFill>
              <a:srgbClr val="1E3A1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99617" y="6383655"/>
            <a:ext cx="430396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Application Development · SEN 302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0060186" y="6261735"/>
            <a:ext cx="3013234" cy="502920"/>
          </a:xfrm>
          <a:prstGeom prst="roundRect">
            <a:avLst>
              <a:gd name="adj" fmla="val 50000"/>
            </a:avLst>
          </a:prstGeom>
          <a:solidFill>
            <a:srgbClr val="10B981">
              <a:alpha val="7000"/>
            </a:srgbClr>
          </a:solidFill>
          <a:ln w="7620">
            <a:solidFill>
              <a:srgbClr val="1E3A1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70257" y="6383655"/>
            <a:ext cx="2593091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Nile University of Nigeria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759700" y="7298055"/>
            <a:ext cx="8768481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324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759700" y="7652385"/>
            <a:ext cx="8768481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Abubakar Muhammad Sherif · Madu-Uwechie Chukwunonso Noel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4759700" y="8176260"/>
            <a:ext cx="8768481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Adriel Madukwe Ogbureke · Stefan Birch Olufikayo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8603932" y="8985885"/>
            <a:ext cx="108013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667827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576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25880"/>
            <a:ext cx="16678275" cy="146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b="1" spc="-108" kern="0" dirty="0">
                <a:solidFill>
                  <a:srgbClr val="F1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and reused passwords remain the single largest cause of breaches.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047750" y="3171349"/>
            <a:ext cx="5168861" cy="2804160"/>
          </a:xfrm>
          <a:prstGeom prst="roundRect">
            <a:avLst>
              <a:gd name="adj" fmla="val 8152"/>
            </a:avLst>
          </a:prstGeom>
          <a:solidFill>
            <a:srgbClr val="142014"/>
          </a:solidFill>
          <a:ln w="7620">
            <a:solidFill>
              <a:srgbClr val="1E3A1E"/>
            </a:solidFill>
            <a:prstDash val="solid"/>
          </a:ln>
          <a:effectLst>
            <a:outerShdw sx="100000" sy="100000" kx="0" ky="0" algn="bl" rotWithShape="0" blurRad="228600" dist="50800" dir="16200000">
              <a:srgbClr val="10B981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0496" y="3559969"/>
            <a:ext cx="4523369" cy="1169670"/>
          </a:xfrm>
          <a:prstGeom prst="rect">
            <a:avLst/>
          </a:prstGeom>
          <a:noFill/>
          <a:ln/>
          <a:effectLst>
            <a:outerShdw sx="100000" sy="100000" kx="0" ky="0" algn="bl" rotWithShape="0" blurRad="381000" dist="50800" dir="16200000">
              <a:srgbClr val="10B981">
                <a:alpha val="35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900" b="1" spc="-396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80%+</a:t>
            </a:r>
            <a:endParaRPr lang="en-US" sz="9900" dirty="0"/>
          </a:p>
        </p:txBody>
      </p:sp>
      <p:sp>
        <p:nvSpPr>
          <p:cNvPr id="6" name="Text 4"/>
          <p:cNvSpPr/>
          <p:nvPr/>
        </p:nvSpPr>
        <p:spPr>
          <a:xfrm>
            <a:off x="1370496" y="4901089"/>
            <a:ext cx="4523369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data breaches involve weak, stolen, or reused passwords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59511" y="3171349"/>
            <a:ext cx="5168861" cy="2804160"/>
          </a:xfrm>
          <a:prstGeom prst="roundRect">
            <a:avLst>
              <a:gd name="adj" fmla="val 8152"/>
            </a:avLst>
          </a:prstGeom>
          <a:solidFill>
            <a:srgbClr val="142014"/>
          </a:solidFill>
          <a:ln w="7620">
            <a:solidFill>
              <a:srgbClr val="1E3A1E"/>
            </a:solidFill>
            <a:prstDash val="solid"/>
          </a:ln>
          <a:effectLst>
            <a:outerShdw sx="100000" sy="100000" kx="0" ky="0" algn="bl" rotWithShape="0" blurRad="228600" dist="50800" dir="16200000">
              <a:srgbClr val="10B981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82256" y="3559969"/>
            <a:ext cx="4523369" cy="1169670"/>
          </a:xfrm>
          <a:prstGeom prst="rect">
            <a:avLst/>
          </a:prstGeom>
          <a:noFill/>
          <a:ln/>
          <a:effectLst>
            <a:outerShdw sx="100000" sy="100000" kx="0" ky="0" algn="bl" rotWithShape="0" blurRad="381000" dist="50800" dir="16200000">
              <a:srgbClr val="10B981">
                <a:alpha val="35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900" b="1" spc="-396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800M+</a:t>
            </a:r>
            <a:endParaRPr lang="en-US" sz="9900" dirty="0"/>
          </a:p>
        </p:txBody>
      </p:sp>
      <p:sp>
        <p:nvSpPr>
          <p:cNvPr id="9" name="Text 7"/>
          <p:cNvSpPr/>
          <p:nvPr/>
        </p:nvSpPr>
        <p:spPr>
          <a:xfrm>
            <a:off x="6882256" y="4901089"/>
            <a:ext cx="4523369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credentials already exposed in known public leaks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071271" y="3171349"/>
            <a:ext cx="5168861" cy="2804160"/>
          </a:xfrm>
          <a:prstGeom prst="roundRect">
            <a:avLst>
              <a:gd name="adj" fmla="val 8152"/>
            </a:avLst>
          </a:prstGeom>
          <a:solidFill>
            <a:srgbClr val="142014"/>
          </a:solidFill>
          <a:ln w="7620">
            <a:solidFill>
              <a:srgbClr val="1E3A1E"/>
            </a:solidFill>
            <a:prstDash val="solid"/>
          </a:ln>
          <a:effectLst>
            <a:outerShdw sx="100000" sy="100000" kx="0" ky="0" algn="bl" rotWithShape="0" blurRad="228600" dist="50800" dir="16200000">
              <a:srgbClr val="10B981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394016" y="3559969"/>
            <a:ext cx="4523369" cy="1169670"/>
          </a:xfrm>
          <a:prstGeom prst="rect">
            <a:avLst/>
          </a:prstGeom>
          <a:noFill/>
          <a:ln/>
          <a:effectLst>
            <a:outerShdw sx="100000" sy="100000" kx="0" ky="0" algn="bl" rotWithShape="0" blurRad="381000" dist="50800" dir="16200000">
              <a:srgbClr val="10B981">
                <a:alpha val="35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900" b="1" spc="-396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9900" dirty="0"/>
          </a:p>
        </p:txBody>
      </p:sp>
      <p:sp>
        <p:nvSpPr>
          <p:cNvPr id="12" name="Text 10"/>
          <p:cNvSpPr/>
          <p:nvPr/>
        </p:nvSpPr>
        <p:spPr>
          <a:xfrm>
            <a:off x="12394016" y="4901089"/>
            <a:ext cx="4523369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tools that check both strength </a:t>
            </a:r>
            <a:pPr algn="ctr" indent="0" marL="0">
              <a:lnSpc>
                <a:spcPct val="150000"/>
              </a:lnSpc>
              <a:buNone/>
            </a:pPr>
            <a:r>
              <a:rPr lang="en-US" sz="18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pPr algn="ct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 exposure together</a:t>
            </a:r>
            <a:endParaRPr lang="en-US" sz="18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6508909"/>
            <a:ext cx="285750" cy="2857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504950" y="6470809"/>
            <a:ext cx="1112293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users have </a:t>
            </a:r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way to know 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password they rely on is already compromised.</a:t>
            </a:r>
            <a:endParaRPr lang="en-US" sz="22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7080409"/>
            <a:ext cx="285750" cy="28575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504950" y="7042309"/>
            <a:ext cx="996343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tools check strength </a:t>
            </a:r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breaches — never both in one private place.</a:t>
            </a:r>
            <a:endParaRPr lang="en-US" sz="2250" dirty="0"/>
          </a:p>
        </p:txBody>
      </p:sp>
      <p:sp>
        <p:nvSpPr>
          <p:cNvPr id="17" name="Text 13"/>
          <p:cNvSpPr/>
          <p:nvPr/>
        </p:nvSpPr>
        <p:spPr>
          <a:xfrm>
            <a:off x="16940213" y="9265920"/>
            <a:ext cx="37623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667827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576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25880"/>
            <a:ext cx="16678275" cy="751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b="1" spc="-108" kern="0" dirty="0">
                <a:solidFill>
                  <a:srgbClr val="F1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PassGuard does both — privately, in one place.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047750" y="2267664"/>
            <a:ext cx="12950190" cy="922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full-stack web app that scores password strength and checks breach exposure, with the raw password never leaving the user's device.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47750" y="3570684"/>
            <a:ext cx="5181600" cy="3257550"/>
          </a:xfrm>
          <a:prstGeom prst="roundRect">
            <a:avLst>
              <a:gd name="adj" fmla="val 7018"/>
            </a:avLst>
          </a:prstGeom>
          <a:solidFill>
            <a:srgbClr val="142014"/>
          </a:solidFill>
          <a:ln w="7620">
            <a:solidFill>
              <a:srgbClr val="1E3A1E"/>
            </a:solidFill>
            <a:prstDash val="solid"/>
          </a:ln>
          <a:effectLst>
            <a:outerShdw sx="100000" sy="100000" kx="0" ky="0" algn="bl" rotWithShape="0" blurRad="228600" dist="50800" dir="16200000">
              <a:srgbClr val="10B981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36370" y="3959305"/>
            <a:ext cx="723900" cy="723900"/>
          </a:xfrm>
          <a:prstGeom prst="roundRect">
            <a:avLst>
              <a:gd name="adj" fmla="val 26316"/>
            </a:avLst>
          </a:prstGeom>
          <a:solidFill>
            <a:srgbClr val="10B981">
              <a:alpha val="10000"/>
            </a:srgbClr>
          </a:solidFill>
          <a:ln w="7620">
            <a:solidFill>
              <a:srgbClr val="1E3A1E"/>
            </a:solidFill>
            <a:prstDash val="solid"/>
          </a:ln>
          <a:effectLst>
            <a:outerShdw sx="100000" sy="100000" kx="0" ky="0" algn="bl" rotWithShape="0" blurRad="228600" dist="50800" dir="16200000">
              <a:srgbClr val="10B981">
                <a:alpha val="2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7345" y="4140280"/>
            <a:ext cx="361950" cy="3619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36370" y="4949904"/>
            <a:ext cx="453649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 Analysis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436370" y="5410914"/>
            <a:ext cx="4536491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scoring, a visual strength bar, crack-time estimates, and plain-language improvement suggestions.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553200" y="3570684"/>
            <a:ext cx="5181600" cy="3257550"/>
          </a:xfrm>
          <a:prstGeom prst="roundRect">
            <a:avLst>
              <a:gd name="adj" fmla="val 7018"/>
            </a:avLst>
          </a:prstGeom>
          <a:solidFill>
            <a:srgbClr val="142014"/>
          </a:solidFill>
          <a:ln w="7620">
            <a:solidFill>
              <a:srgbClr val="1E3A1E"/>
            </a:solidFill>
            <a:prstDash val="solid"/>
          </a:ln>
          <a:effectLst>
            <a:outerShdw sx="100000" sy="100000" kx="0" ky="0" algn="bl" rotWithShape="0" blurRad="228600" dist="50800" dir="16200000">
              <a:srgbClr val="10B981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941820" y="3959305"/>
            <a:ext cx="723900" cy="723900"/>
          </a:xfrm>
          <a:prstGeom prst="roundRect">
            <a:avLst>
              <a:gd name="adj" fmla="val 26316"/>
            </a:avLst>
          </a:prstGeom>
          <a:solidFill>
            <a:srgbClr val="10B981">
              <a:alpha val="10000"/>
            </a:srgbClr>
          </a:solidFill>
          <a:ln w="7620">
            <a:solidFill>
              <a:srgbClr val="1E3A1E"/>
            </a:solidFill>
            <a:prstDash val="solid"/>
          </a:ln>
          <a:effectLst>
            <a:outerShdw sx="100000" sy="100000" kx="0" ky="0" algn="bl" rotWithShape="0" blurRad="228600" dist="50800" dir="16200000">
              <a:srgbClr val="10B981">
                <a:alpha val="2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2795" y="4140280"/>
            <a:ext cx="361950" cy="3619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1820" y="4949904"/>
            <a:ext cx="453649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 Checking</a:t>
            </a:r>
            <a:endParaRPr lang="en-US" sz="2250" dirty="0"/>
          </a:p>
        </p:txBody>
      </p:sp>
      <p:sp>
        <p:nvSpPr>
          <p:cNvPr id="14" name="Text 10"/>
          <p:cNvSpPr/>
          <p:nvPr/>
        </p:nvSpPr>
        <p:spPr>
          <a:xfrm>
            <a:off x="6941820" y="5410914"/>
            <a:ext cx="4536491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against 800M+ leaked passwords via Have I Been Pwned, protected end-to-end by k-Anonymity.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12058650" y="3570684"/>
            <a:ext cx="5181600" cy="3257550"/>
          </a:xfrm>
          <a:prstGeom prst="roundRect">
            <a:avLst>
              <a:gd name="adj" fmla="val 7018"/>
            </a:avLst>
          </a:prstGeom>
          <a:solidFill>
            <a:srgbClr val="142014"/>
          </a:solidFill>
          <a:ln w="7620">
            <a:solidFill>
              <a:srgbClr val="1E3A1E"/>
            </a:solidFill>
            <a:prstDash val="solid"/>
          </a:ln>
          <a:effectLst>
            <a:outerShdw sx="100000" sy="100000" kx="0" ky="0" algn="bl" rotWithShape="0" blurRad="228600" dist="50800" dir="16200000">
              <a:srgbClr val="10B981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12447270" y="3959305"/>
            <a:ext cx="723900" cy="723900"/>
          </a:xfrm>
          <a:prstGeom prst="roundRect">
            <a:avLst>
              <a:gd name="adj" fmla="val 26316"/>
            </a:avLst>
          </a:prstGeom>
          <a:solidFill>
            <a:srgbClr val="10B981">
              <a:alpha val="10000"/>
            </a:srgbClr>
          </a:solidFill>
          <a:ln w="7620">
            <a:solidFill>
              <a:srgbClr val="1E3A1E"/>
            </a:solidFill>
            <a:prstDash val="solid"/>
          </a:ln>
          <a:effectLst>
            <a:outerShdw sx="100000" sy="100000" kx="0" ky="0" algn="bl" rotWithShape="0" blurRad="228600" dist="50800" dir="16200000">
              <a:srgbClr val="10B981">
                <a:alpha val="22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8245" y="4140280"/>
            <a:ext cx="361950" cy="36195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447270" y="4949904"/>
            <a:ext cx="453649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History</a:t>
            </a:r>
            <a:endParaRPr lang="en-US" sz="2250" dirty="0"/>
          </a:p>
        </p:txBody>
      </p:sp>
      <p:sp>
        <p:nvSpPr>
          <p:cNvPr id="19" name="Text 14"/>
          <p:cNvSpPr/>
          <p:nvPr/>
        </p:nvSpPr>
        <p:spPr>
          <a:xfrm>
            <a:off x="12447270" y="5410914"/>
            <a:ext cx="4536491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accounts store past checks with timestamps and masked passwords — fully responsive on any device.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16940213" y="9265920"/>
            <a:ext cx="37623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667827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576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25880"/>
            <a:ext cx="16678275" cy="751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b="1" spc="-108" kern="0" dirty="0">
                <a:solidFill>
                  <a:srgbClr val="F1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 one focused interface.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047750" y="2458164"/>
            <a:ext cx="5219700" cy="3400068"/>
          </a:xfrm>
          <a:prstGeom prst="roundRect">
            <a:avLst>
              <a:gd name="adj" fmla="val 6723"/>
            </a:avLst>
          </a:prstGeom>
          <a:solidFill>
            <a:srgbClr val="142014"/>
          </a:solidFill>
          <a:ln w="7620">
            <a:solidFill>
              <a:srgbClr val="1E3A1E"/>
            </a:solidFill>
            <a:prstDash val="solid"/>
          </a:ln>
          <a:effectLst>
            <a:outerShdw sx="100000" sy="100000" kx="0" ky="0" algn="bl" rotWithShape="0" blurRad="228600" dist="50800" dir="16200000">
              <a:srgbClr val="10B981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60170" y="2770584"/>
            <a:ext cx="425887" cy="571500"/>
          </a:xfrm>
          <a:prstGeom prst="roundRect">
            <a:avLst>
              <a:gd name="adj" fmla="val 35784"/>
            </a:avLst>
          </a:prstGeom>
          <a:solidFill>
            <a:srgbClr val="10B981">
              <a:alpha val="10000"/>
            </a:srgbClr>
          </a:solidFill>
          <a:ln w="7620">
            <a:solidFill>
              <a:srgbClr val="1E3A1E"/>
            </a:solidFill>
            <a:prstDash val="solid"/>
          </a:ln>
          <a:effectLst>
            <a:outerShdw sx="100000" sy="100000" kx="0" ky="0" algn="bl" rotWithShape="0" blurRad="228600" dist="50800" dir="16200000">
              <a:srgbClr val="10B981">
                <a:alpha val="2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2079" y="2875359"/>
            <a:ext cx="361950" cy="3619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95607" y="2770584"/>
            <a:ext cx="407820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Strength Scoring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995607" y="3128724"/>
            <a:ext cx="4078206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→ Very Strong, powered by Dropbox's zxcvbn.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534150" y="2458164"/>
            <a:ext cx="5219700" cy="3400068"/>
          </a:xfrm>
          <a:prstGeom prst="roundRect">
            <a:avLst>
              <a:gd name="adj" fmla="val 6723"/>
            </a:avLst>
          </a:prstGeom>
          <a:solidFill>
            <a:srgbClr val="142014"/>
          </a:solidFill>
          <a:ln w="7620">
            <a:solidFill>
              <a:srgbClr val="1E3A1E"/>
            </a:solidFill>
            <a:prstDash val="solid"/>
          </a:ln>
          <a:effectLst>
            <a:outerShdw sx="100000" sy="100000" kx="0" ky="0" algn="bl" rotWithShape="0" blurRad="228600" dist="50800" dir="16200000">
              <a:srgbClr val="10B981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846570" y="2770584"/>
            <a:ext cx="392787" cy="571500"/>
          </a:xfrm>
          <a:prstGeom prst="roundRect">
            <a:avLst>
              <a:gd name="adj" fmla="val 38800"/>
            </a:avLst>
          </a:prstGeom>
          <a:solidFill>
            <a:srgbClr val="10B981">
              <a:alpha val="10000"/>
            </a:srgbClr>
          </a:solidFill>
          <a:ln w="7620">
            <a:solidFill>
              <a:srgbClr val="1E3A1E"/>
            </a:solidFill>
            <a:prstDash val="solid"/>
          </a:ln>
          <a:effectLst>
            <a:outerShdw sx="100000" sy="100000" kx="0" ky="0" algn="bl" rotWithShape="0" blurRad="228600" dist="50800" dir="16200000">
              <a:srgbClr val="10B981">
                <a:alpha val="2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1929" y="2875359"/>
            <a:ext cx="361950" cy="3619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48908" y="2770584"/>
            <a:ext cx="411229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Crack-Time Estimate</a:t>
            </a:r>
            <a:endParaRPr lang="en-US" sz="1950" dirty="0"/>
          </a:p>
        </p:txBody>
      </p:sp>
      <p:sp>
        <p:nvSpPr>
          <p:cNvPr id="13" name="Text 9"/>
          <p:cNvSpPr/>
          <p:nvPr/>
        </p:nvSpPr>
        <p:spPr>
          <a:xfrm>
            <a:off x="7448908" y="3128724"/>
            <a:ext cx="4112299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Color-coded progress bar with an estimated time-to-crack.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12020550" y="2458164"/>
            <a:ext cx="5219700" cy="3400068"/>
          </a:xfrm>
          <a:prstGeom prst="roundRect">
            <a:avLst>
              <a:gd name="adj" fmla="val 6723"/>
            </a:avLst>
          </a:prstGeom>
          <a:solidFill>
            <a:srgbClr val="142014"/>
          </a:solidFill>
          <a:ln w="7620">
            <a:solidFill>
              <a:srgbClr val="1E3A1E"/>
            </a:solidFill>
            <a:prstDash val="solid"/>
          </a:ln>
          <a:effectLst>
            <a:outerShdw sx="100000" sy="100000" kx="0" ky="0" algn="bl" rotWithShape="0" blurRad="228600" dist="50800" dir="16200000">
              <a:srgbClr val="10B981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2332970" y="2770584"/>
            <a:ext cx="428625" cy="571500"/>
          </a:xfrm>
          <a:prstGeom prst="roundRect">
            <a:avLst>
              <a:gd name="adj" fmla="val 35556"/>
            </a:avLst>
          </a:prstGeom>
          <a:solidFill>
            <a:srgbClr val="10B981">
              <a:alpha val="10000"/>
            </a:srgbClr>
          </a:solidFill>
          <a:ln w="7620">
            <a:solidFill>
              <a:srgbClr val="1E3A1E"/>
            </a:solidFill>
            <a:prstDash val="solid"/>
          </a:ln>
          <a:effectLst>
            <a:outerShdw sx="100000" sy="100000" kx="0" ky="0" algn="bl" rotWithShape="0" blurRad="228600" dist="50800" dir="16200000">
              <a:srgbClr val="10B981">
                <a:alpha val="2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66308" y="2875359"/>
            <a:ext cx="361950" cy="3619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971145" y="2770584"/>
            <a:ext cx="407538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Suggestions</a:t>
            </a:r>
            <a:endParaRPr lang="en-US" sz="1950" dirty="0"/>
          </a:p>
        </p:txBody>
      </p:sp>
      <p:sp>
        <p:nvSpPr>
          <p:cNvPr id="18" name="Text 13"/>
          <p:cNvSpPr/>
          <p:nvPr/>
        </p:nvSpPr>
        <p:spPr>
          <a:xfrm>
            <a:off x="12971145" y="3128724"/>
            <a:ext cx="407538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Plain-language guidance on how to make it stronger.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1047750" y="6124933"/>
            <a:ext cx="5219700" cy="3400068"/>
          </a:xfrm>
          <a:prstGeom prst="roundRect">
            <a:avLst>
              <a:gd name="adj" fmla="val 6723"/>
            </a:avLst>
          </a:prstGeom>
          <a:solidFill>
            <a:srgbClr val="142014"/>
          </a:solidFill>
          <a:ln w="7620">
            <a:solidFill>
              <a:srgbClr val="1E3A1E"/>
            </a:solidFill>
            <a:prstDash val="solid"/>
          </a:ln>
          <a:effectLst>
            <a:outerShdw sx="100000" sy="100000" kx="0" ky="0" algn="bl" rotWithShape="0" blurRad="228600" dist="50800" dir="16200000">
              <a:srgbClr val="10B981">
                <a:alpha val="2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360170" y="6437352"/>
            <a:ext cx="377190" cy="571500"/>
          </a:xfrm>
          <a:prstGeom prst="roundRect">
            <a:avLst>
              <a:gd name="adj" fmla="val 40404"/>
            </a:avLst>
          </a:prstGeom>
          <a:solidFill>
            <a:srgbClr val="10B981">
              <a:alpha val="10000"/>
            </a:srgbClr>
          </a:solidFill>
          <a:ln w="7620">
            <a:solidFill>
              <a:srgbClr val="1E3A1E"/>
            </a:solidFill>
            <a:prstDash val="solid"/>
          </a:ln>
          <a:effectLst>
            <a:outerShdw sx="100000" sy="100000" kx="0" ky="0" algn="bl" rotWithShape="0" blurRad="228600" dist="50800" dir="16200000">
              <a:srgbClr val="10B981">
                <a:alpha val="22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7790" y="6542127"/>
            <a:ext cx="361950" cy="36195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946910" y="6437352"/>
            <a:ext cx="4128364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 Detection</a:t>
            </a:r>
            <a:endParaRPr lang="en-US" sz="1950" dirty="0"/>
          </a:p>
        </p:txBody>
      </p:sp>
      <p:sp>
        <p:nvSpPr>
          <p:cNvPr id="23" name="Text 17"/>
          <p:cNvSpPr/>
          <p:nvPr/>
        </p:nvSpPr>
        <p:spPr>
          <a:xfrm>
            <a:off x="1946910" y="6795492"/>
            <a:ext cx="412836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HIBP lookup via k-Anonymity with in-browser SHA-1 hashing.</a:t>
            </a:r>
            <a:endParaRPr lang="en-US" sz="1800" dirty="0"/>
          </a:p>
        </p:txBody>
      </p:sp>
      <p:sp>
        <p:nvSpPr>
          <p:cNvPr id="24" name="Shape 18"/>
          <p:cNvSpPr/>
          <p:nvPr/>
        </p:nvSpPr>
        <p:spPr>
          <a:xfrm>
            <a:off x="6534150" y="6124933"/>
            <a:ext cx="5219700" cy="3400068"/>
          </a:xfrm>
          <a:prstGeom prst="roundRect">
            <a:avLst>
              <a:gd name="adj" fmla="val 6723"/>
            </a:avLst>
          </a:prstGeom>
          <a:solidFill>
            <a:srgbClr val="142014"/>
          </a:solidFill>
          <a:ln w="7620">
            <a:solidFill>
              <a:srgbClr val="1E3A1E"/>
            </a:solidFill>
            <a:prstDash val="solid"/>
          </a:ln>
          <a:effectLst>
            <a:outerShdw sx="100000" sy="100000" kx="0" ky="0" algn="bl" rotWithShape="0" blurRad="228600" dist="50800" dir="16200000">
              <a:srgbClr val="10B981">
                <a:alpha val="2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846570" y="6437352"/>
            <a:ext cx="405051" cy="571500"/>
          </a:xfrm>
          <a:prstGeom prst="roundRect">
            <a:avLst>
              <a:gd name="adj" fmla="val 37625"/>
            </a:avLst>
          </a:prstGeom>
          <a:solidFill>
            <a:srgbClr val="10B981">
              <a:alpha val="10000"/>
            </a:srgbClr>
          </a:solidFill>
          <a:ln w="7620">
            <a:solidFill>
              <a:srgbClr val="1E3A1E"/>
            </a:solidFill>
            <a:prstDash val="solid"/>
          </a:ln>
          <a:effectLst>
            <a:outerShdw sx="100000" sy="100000" kx="0" ky="0" algn="bl" rotWithShape="0" blurRad="228600" dist="50800" dir="16200000">
              <a:srgbClr val="10B981">
                <a:alpha val="22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8120" y="6542127"/>
            <a:ext cx="361950" cy="36195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461171" y="6437352"/>
            <a:ext cx="4099667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 Count</a:t>
            </a:r>
            <a:endParaRPr lang="en-US" sz="1950" dirty="0"/>
          </a:p>
        </p:txBody>
      </p:sp>
      <p:sp>
        <p:nvSpPr>
          <p:cNvPr id="28" name="Text 21"/>
          <p:cNvSpPr/>
          <p:nvPr/>
        </p:nvSpPr>
        <p:spPr>
          <a:xfrm>
            <a:off x="7461171" y="6795492"/>
            <a:ext cx="409966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exactly how often a password appeared in leaks.</a:t>
            </a:r>
            <a:endParaRPr lang="en-US" sz="1800" dirty="0"/>
          </a:p>
        </p:txBody>
      </p:sp>
      <p:sp>
        <p:nvSpPr>
          <p:cNvPr id="29" name="Shape 22"/>
          <p:cNvSpPr/>
          <p:nvPr/>
        </p:nvSpPr>
        <p:spPr>
          <a:xfrm>
            <a:off x="12020550" y="6124933"/>
            <a:ext cx="5219700" cy="3400068"/>
          </a:xfrm>
          <a:prstGeom prst="roundRect">
            <a:avLst>
              <a:gd name="adj" fmla="val 6723"/>
            </a:avLst>
          </a:prstGeom>
          <a:solidFill>
            <a:srgbClr val="142014"/>
          </a:solidFill>
          <a:ln w="7620">
            <a:solidFill>
              <a:srgbClr val="1E3A1E"/>
            </a:solidFill>
            <a:prstDash val="solid"/>
          </a:ln>
          <a:effectLst>
            <a:outerShdw sx="100000" sy="100000" kx="0" ky="0" algn="bl" rotWithShape="0" blurRad="228600" dist="50800" dir="16200000">
              <a:srgbClr val="10B981">
                <a:alpha val="2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12332970" y="6437352"/>
            <a:ext cx="403979" cy="571500"/>
          </a:xfrm>
          <a:prstGeom prst="roundRect">
            <a:avLst>
              <a:gd name="adj" fmla="val 37725"/>
            </a:avLst>
          </a:prstGeom>
          <a:solidFill>
            <a:srgbClr val="10B981">
              <a:alpha val="10000"/>
            </a:srgbClr>
          </a:solidFill>
          <a:ln w="7620">
            <a:solidFill>
              <a:srgbClr val="1E3A1E"/>
            </a:solidFill>
            <a:prstDash val="solid"/>
          </a:ln>
          <a:effectLst>
            <a:outerShdw sx="100000" sy="100000" kx="0" ky="0" algn="bl" rotWithShape="0" blurRad="228600" dist="50800" dir="16200000">
              <a:srgbClr val="10B981">
                <a:alpha val="22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53925" y="6542127"/>
            <a:ext cx="361950" cy="36195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2946499" y="6437352"/>
            <a:ext cx="4100771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 &amp; History</a:t>
            </a:r>
            <a:endParaRPr lang="en-US" sz="1950" dirty="0"/>
          </a:p>
        </p:txBody>
      </p:sp>
      <p:sp>
        <p:nvSpPr>
          <p:cNvPr id="33" name="Text 25"/>
          <p:cNvSpPr/>
          <p:nvPr/>
        </p:nvSpPr>
        <p:spPr>
          <a:xfrm>
            <a:off x="12946499" y="6795492"/>
            <a:ext cx="410077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sessions, saved per-user history, show/hide toggle.</a:t>
            </a:r>
            <a:endParaRPr lang="en-US" sz="1800" dirty="0"/>
          </a:p>
        </p:txBody>
      </p:sp>
      <p:sp>
        <p:nvSpPr>
          <p:cNvPr id="34" name="Text 26"/>
          <p:cNvSpPr/>
          <p:nvPr/>
        </p:nvSpPr>
        <p:spPr>
          <a:xfrm>
            <a:off x="16940213" y="9265920"/>
            <a:ext cx="37623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667827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576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25880"/>
            <a:ext cx="16678275" cy="751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b="1" spc="-108" kern="0" dirty="0">
                <a:solidFill>
                  <a:srgbClr val="F1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the MERN stack, deployed to the cloud.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047750" y="2458164"/>
            <a:ext cx="16192500" cy="6217920"/>
          </a:xfrm>
          <a:prstGeom prst="roundRect">
            <a:avLst>
              <a:gd name="adj" fmla="val 3370"/>
            </a:avLst>
          </a:prstGeom>
          <a:ln w="7620">
            <a:solidFill>
              <a:srgbClr val="1E3A1E"/>
            </a:solidFill>
            <a:prstDash val="solid"/>
          </a:ln>
          <a:effectLst>
            <a:outerShdw sx="100000" sy="100000" kx="0" ky="0" algn="bl" rotWithShape="0" blurRad="228600" dist="50800" dir="16200000">
              <a:srgbClr val="10B981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5370" y="2465784"/>
            <a:ext cx="4206002" cy="643890"/>
          </a:xfrm>
          <a:prstGeom prst="rect">
            <a:avLst/>
          </a:prstGeom>
          <a:solidFill>
            <a:srgbClr val="10B981">
              <a:alpha val="1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55370" y="3102054"/>
            <a:ext cx="4206002" cy="9525"/>
          </a:xfrm>
          <a:prstGeom prst="rect">
            <a:avLst/>
          </a:prstGeom>
          <a:solidFill>
            <a:srgbClr val="1E3A1E"/>
          </a:solidFill>
          <a:ln/>
        </p:spPr>
      </p:sp>
      <p:sp>
        <p:nvSpPr>
          <p:cNvPr id="7" name="Text 5"/>
          <p:cNvSpPr/>
          <p:nvPr/>
        </p:nvSpPr>
        <p:spPr>
          <a:xfrm>
            <a:off x="1303020" y="2656284"/>
            <a:ext cx="3836882" cy="293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261372" y="2465784"/>
            <a:ext cx="4853107" cy="643890"/>
          </a:xfrm>
          <a:prstGeom prst="rect">
            <a:avLst/>
          </a:prstGeom>
          <a:solidFill>
            <a:srgbClr val="10B981">
              <a:alpha val="1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261372" y="3102054"/>
            <a:ext cx="4853107" cy="9525"/>
          </a:xfrm>
          <a:prstGeom prst="rect">
            <a:avLst/>
          </a:prstGeom>
          <a:solidFill>
            <a:srgbClr val="1E3A1E"/>
          </a:solidFill>
          <a:ln/>
        </p:spPr>
      </p:sp>
      <p:sp>
        <p:nvSpPr>
          <p:cNvPr id="10" name="Text 8"/>
          <p:cNvSpPr/>
          <p:nvPr/>
        </p:nvSpPr>
        <p:spPr>
          <a:xfrm>
            <a:off x="5509022" y="2656284"/>
            <a:ext cx="4503400" cy="293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114479" y="2465784"/>
            <a:ext cx="7118152" cy="643890"/>
          </a:xfrm>
          <a:prstGeom prst="rect">
            <a:avLst/>
          </a:prstGeom>
          <a:solidFill>
            <a:srgbClr val="10B981">
              <a:alpha val="1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114479" y="3102054"/>
            <a:ext cx="7118152" cy="9525"/>
          </a:xfrm>
          <a:prstGeom prst="rect">
            <a:avLst/>
          </a:prstGeom>
          <a:solidFill>
            <a:srgbClr val="1E3A1E"/>
          </a:solidFill>
          <a:ln/>
        </p:spPr>
      </p:sp>
      <p:sp>
        <p:nvSpPr>
          <p:cNvPr id="13" name="Text 11"/>
          <p:cNvSpPr/>
          <p:nvPr/>
        </p:nvSpPr>
        <p:spPr>
          <a:xfrm>
            <a:off x="10362129" y="2656284"/>
            <a:ext cx="6836396" cy="293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55370" y="3109674"/>
            <a:ext cx="4206002" cy="617220"/>
          </a:xfrm>
          <a:prstGeom prst="rect">
            <a:avLst/>
          </a:prstGeom>
          <a:solidFill>
            <a:srgbClr val="142014">
              <a:alpha val="5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55370" y="3719274"/>
            <a:ext cx="4206002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303020" y="3281124"/>
            <a:ext cx="383688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261372" y="3109674"/>
            <a:ext cx="4853107" cy="617220"/>
          </a:xfrm>
          <a:prstGeom prst="rect">
            <a:avLst/>
          </a:prstGeom>
          <a:solidFill>
            <a:srgbClr val="142014">
              <a:alpha val="5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261372" y="3719274"/>
            <a:ext cx="4853107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509022" y="3281124"/>
            <a:ext cx="45034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React.js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0114479" y="3109674"/>
            <a:ext cx="7118152" cy="617220"/>
          </a:xfrm>
          <a:prstGeom prst="rect">
            <a:avLst/>
          </a:prstGeom>
          <a:solidFill>
            <a:srgbClr val="142014">
              <a:alpha val="5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114479" y="3719274"/>
            <a:ext cx="7118152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0362129" y="3281124"/>
            <a:ext cx="683639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components and interactions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055370" y="4336494"/>
            <a:ext cx="4206002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303020" y="3898344"/>
            <a:ext cx="383688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Styling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261372" y="4336494"/>
            <a:ext cx="4853107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509022" y="3898344"/>
            <a:ext cx="45034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Tailwind CSS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0114479" y="4336494"/>
            <a:ext cx="7118152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0362129" y="3898344"/>
            <a:ext cx="683639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design system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055370" y="4344114"/>
            <a:ext cx="4206002" cy="617220"/>
          </a:xfrm>
          <a:prstGeom prst="rect">
            <a:avLst/>
          </a:prstGeom>
          <a:solidFill>
            <a:srgbClr val="142014">
              <a:alpha val="5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055370" y="4953715"/>
            <a:ext cx="4206002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303020" y="4515564"/>
            <a:ext cx="383688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5261372" y="4344114"/>
            <a:ext cx="4853107" cy="617220"/>
          </a:xfrm>
          <a:prstGeom prst="rect">
            <a:avLst/>
          </a:prstGeom>
          <a:solidFill>
            <a:srgbClr val="142014">
              <a:alpha val="5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261372" y="4953715"/>
            <a:ext cx="4853107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5509022" y="4515564"/>
            <a:ext cx="45034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Node.js + Express.js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0114479" y="4344114"/>
            <a:ext cx="7118152" cy="617220"/>
          </a:xfrm>
          <a:prstGeom prst="rect">
            <a:avLst/>
          </a:prstGeom>
          <a:solidFill>
            <a:srgbClr val="142014">
              <a:alpha val="5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0114479" y="4953715"/>
            <a:ext cx="7118152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0362129" y="4515564"/>
            <a:ext cx="683639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and business logic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055370" y="5570934"/>
            <a:ext cx="4206002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1303020" y="5132784"/>
            <a:ext cx="383688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5261372" y="5570934"/>
            <a:ext cx="4853107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5509022" y="5132784"/>
            <a:ext cx="45034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MongoDB + Mongoose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0114479" y="5570934"/>
            <a:ext cx="7118152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10362129" y="5132784"/>
            <a:ext cx="683639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storage and modelling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1055370" y="5578554"/>
            <a:ext cx="4206002" cy="617220"/>
          </a:xfrm>
          <a:prstGeom prst="rect">
            <a:avLst/>
          </a:prstGeom>
          <a:solidFill>
            <a:srgbClr val="142014">
              <a:alpha val="5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055370" y="6188154"/>
            <a:ext cx="4206002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1303020" y="5750004"/>
            <a:ext cx="383688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5261372" y="5578554"/>
            <a:ext cx="4853107" cy="617220"/>
          </a:xfrm>
          <a:prstGeom prst="rect">
            <a:avLst/>
          </a:prstGeom>
          <a:solidFill>
            <a:srgbClr val="142014">
              <a:alpha val="5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261372" y="6188154"/>
            <a:ext cx="4853107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5509022" y="5750004"/>
            <a:ext cx="45034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 + bcrypt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10114479" y="5578554"/>
            <a:ext cx="7118152" cy="617220"/>
          </a:xfrm>
          <a:prstGeom prst="rect">
            <a:avLst/>
          </a:prstGeom>
          <a:solidFill>
            <a:srgbClr val="142014">
              <a:alpha val="5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0114479" y="6188154"/>
            <a:ext cx="7118152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10362129" y="5750004"/>
            <a:ext cx="683639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sessions and hashing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1055370" y="6805375"/>
            <a:ext cx="4206002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1303020" y="6367225"/>
            <a:ext cx="383688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 Analysis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5261372" y="6805375"/>
            <a:ext cx="4853107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5509022" y="6367225"/>
            <a:ext cx="45034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zxcvbn (Dropbox)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10114479" y="6805375"/>
            <a:ext cx="7118152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10362129" y="6367225"/>
            <a:ext cx="683639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scoring algorithm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055370" y="6812995"/>
            <a:ext cx="4206002" cy="617220"/>
          </a:xfrm>
          <a:prstGeom prst="rect">
            <a:avLst/>
          </a:prstGeom>
          <a:solidFill>
            <a:srgbClr val="142014">
              <a:alpha val="5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055370" y="7422595"/>
            <a:ext cx="4206002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1303020" y="6984445"/>
            <a:ext cx="383688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 Detection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5261372" y="6812995"/>
            <a:ext cx="4853107" cy="617220"/>
          </a:xfrm>
          <a:prstGeom prst="rect">
            <a:avLst/>
          </a:prstGeom>
          <a:solidFill>
            <a:srgbClr val="142014">
              <a:alpha val="5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5261372" y="7422595"/>
            <a:ext cx="4853107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5509022" y="6984445"/>
            <a:ext cx="45034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Have I Been Pwned API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10114479" y="6812995"/>
            <a:ext cx="7118152" cy="617220"/>
          </a:xfrm>
          <a:prstGeom prst="rect">
            <a:avLst/>
          </a:prstGeom>
          <a:solidFill>
            <a:srgbClr val="142014">
              <a:alpha val="5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10114479" y="7422595"/>
            <a:ext cx="7118152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10362129" y="6984445"/>
            <a:ext cx="683639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breach database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1055370" y="8039815"/>
            <a:ext cx="4206002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1303020" y="7601664"/>
            <a:ext cx="383688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</a:t>
            </a:r>
            <a:endParaRPr lang="en-US" sz="1800" dirty="0"/>
          </a:p>
        </p:txBody>
      </p:sp>
      <p:sp>
        <p:nvSpPr>
          <p:cNvPr id="70" name="Shape 68"/>
          <p:cNvSpPr/>
          <p:nvPr/>
        </p:nvSpPr>
        <p:spPr>
          <a:xfrm>
            <a:off x="5261372" y="8039815"/>
            <a:ext cx="4853107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5509022" y="7601664"/>
            <a:ext cx="45034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Vercel + Render</a:t>
            </a:r>
            <a:endParaRPr lang="en-US" sz="1800" dirty="0"/>
          </a:p>
        </p:txBody>
      </p:sp>
      <p:sp>
        <p:nvSpPr>
          <p:cNvPr id="72" name="Shape 70"/>
          <p:cNvSpPr/>
          <p:nvPr/>
        </p:nvSpPr>
        <p:spPr>
          <a:xfrm>
            <a:off x="10114479" y="8039815"/>
            <a:ext cx="7118152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10362129" y="7601664"/>
            <a:ext cx="683639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static &amp; Node API deployment</a:t>
            </a:r>
            <a:endParaRPr lang="en-US" sz="1800" dirty="0"/>
          </a:p>
        </p:txBody>
      </p:sp>
      <p:sp>
        <p:nvSpPr>
          <p:cNvPr id="74" name="Shape 72"/>
          <p:cNvSpPr/>
          <p:nvPr/>
        </p:nvSpPr>
        <p:spPr>
          <a:xfrm>
            <a:off x="1055370" y="8047434"/>
            <a:ext cx="4206002" cy="617220"/>
          </a:xfrm>
          <a:prstGeom prst="rect">
            <a:avLst/>
          </a:prstGeom>
          <a:solidFill>
            <a:srgbClr val="142014">
              <a:alpha val="55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1055370" y="8657034"/>
            <a:ext cx="4206002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1303020" y="8218884"/>
            <a:ext cx="383688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Control</a:t>
            </a:r>
            <a:endParaRPr lang="en-US" sz="1800" dirty="0"/>
          </a:p>
        </p:txBody>
      </p:sp>
      <p:sp>
        <p:nvSpPr>
          <p:cNvPr id="77" name="Shape 75"/>
          <p:cNvSpPr/>
          <p:nvPr/>
        </p:nvSpPr>
        <p:spPr>
          <a:xfrm>
            <a:off x="5261372" y="8047434"/>
            <a:ext cx="4853107" cy="617220"/>
          </a:xfrm>
          <a:prstGeom prst="rect">
            <a:avLst/>
          </a:prstGeom>
          <a:solidFill>
            <a:srgbClr val="142014">
              <a:alpha val="55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5261372" y="8657034"/>
            <a:ext cx="4853107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79" name="Text 77"/>
          <p:cNvSpPr/>
          <p:nvPr/>
        </p:nvSpPr>
        <p:spPr>
          <a:xfrm>
            <a:off x="5509022" y="8218884"/>
            <a:ext cx="45034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+ GitHub</a:t>
            </a:r>
            <a:endParaRPr lang="en-US" sz="1800" dirty="0"/>
          </a:p>
        </p:txBody>
      </p:sp>
      <p:sp>
        <p:nvSpPr>
          <p:cNvPr id="80" name="Shape 78"/>
          <p:cNvSpPr/>
          <p:nvPr/>
        </p:nvSpPr>
        <p:spPr>
          <a:xfrm>
            <a:off x="10114479" y="8047434"/>
            <a:ext cx="7118152" cy="617220"/>
          </a:xfrm>
          <a:prstGeom prst="rect">
            <a:avLst/>
          </a:prstGeom>
          <a:solidFill>
            <a:srgbClr val="142014">
              <a:alpha val="55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10114479" y="8657034"/>
            <a:ext cx="7118152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82" name="Text 80"/>
          <p:cNvSpPr/>
          <p:nvPr/>
        </p:nvSpPr>
        <p:spPr>
          <a:xfrm>
            <a:off x="10362129" y="8218884"/>
            <a:ext cx="683639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management</a:t>
            </a:r>
            <a:endParaRPr lang="en-US" sz="1800" dirty="0"/>
          </a:p>
        </p:txBody>
      </p:sp>
      <p:sp>
        <p:nvSpPr>
          <p:cNvPr id="83" name="Text 81"/>
          <p:cNvSpPr/>
          <p:nvPr/>
        </p:nvSpPr>
        <p:spPr>
          <a:xfrm>
            <a:off x="16940213" y="9265920"/>
            <a:ext cx="37623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667827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576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25880"/>
            <a:ext cx="16678275" cy="751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b="1" spc="-108" kern="0" dirty="0">
                <a:solidFill>
                  <a:srgbClr val="F1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three-tier client–server design.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047750" y="2458164"/>
            <a:ext cx="4730710" cy="2647950"/>
          </a:xfrm>
          <a:prstGeom prst="roundRect">
            <a:avLst>
              <a:gd name="adj" fmla="val 8633"/>
            </a:avLst>
          </a:prstGeom>
          <a:solidFill>
            <a:srgbClr val="142014"/>
          </a:solidFill>
          <a:ln w="7620">
            <a:solidFill>
              <a:srgbClr val="1E3A1E"/>
            </a:solidFill>
            <a:prstDash val="solid"/>
          </a:ln>
          <a:effectLst>
            <a:outerShdw sx="100000" sy="100000" kx="0" ky="0" algn="bl" rotWithShape="0" blurRad="228600" dist="50800" dir="16200000">
              <a:srgbClr val="10B981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051096" y="2789634"/>
            <a:ext cx="723900" cy="723900"/>
          </a:xfrm>
          <a:prstGeom prst="roundRect">
            <a:avLst>
              <a:gd name="adj" fmla="val 26316"/>
            </a:avLst>
          </a:prstGeom>
          <a:solidFill>
            <a:srgbClr val="10B981">
              <a:alpha val="10000"/>
            </a:srgbClr>
          </a:solidFill>
          <a:ln w="7620">
            <a:solidFill>
              <a:srgbClr val="1E3A1E"/>
            </a:solidFill>
            <a:prstDash val="solid"/>
          </a:ln>
          <a:effectLst>
            <a:outerShdw sx="100000" sy="100000" kx="0" ky="0" algn="bl" rotWithShape="0" blurRad="228600" dist="50800" dir="16200000">
              <a:srgbClr val="10B981">
                <a:alpha val="2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2071" y="2970609"/>
            <a:ext cx="361950" cy="3619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9717" y="3723084"/>
            <a:ext cx="434677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216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 · PRESENTATION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239717" y="4058364"/>
            <a:ext cx="434677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React.js on Vercel</a:t>
            </a:r>
            <a:endParaRPr lang="en-US" sz="2025" dirty="0"/>
          </a:p>
        </p:txBody>
      </p:sp>
      <p:sp>
        <p:nvSpPr>
          <p:cNvPr id="9" name="Text 6"/>
          <p:cNvSpPr/>
          <p:nvPr/>
        </p:nvSpPr>
        <p:spPr>
          <a:xfrm>
            <a:off x="1239717" y="4431744"/>
            <a:ext cx="434677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user's browser</a:t>
            </a:r>
            <a:endParaRPr lang="en-US" sz="18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061" y="3563064"/>
            <a:ext cx="438150" cy="43815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445211" y="2458164"/>
            <a:ext cx="4730710" cy="2647950"/>
          </a:xfrm>
          <a:prstGeom prst="roundRect">
            <a:avLst>
              <a:gd name="adj" fmla="val 8633"/>
            </a:avLst>
          </a:prstGeom>
          <a:solidFill>
            <a:srgbClr val="142014"/>
          </a:solidFill>
          <a:ln w="7620">
            <a:solidFill>
              <a:srgbClr val="1E3A1E"/>
            </a:solidFill>
            <a:prstDash val="solid"/>
          </a:ln>
          <a:effectLst>
            <a:outerShdw sx="100000" sy="100000" kx="0" ky="0" algn="bl" rotWithShape="0" blurRad="228600" dist="50800" dir="16200000">
              <a:srgbClr val="10B981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8448556" y="2789634"/>
            <a:ext cx="723900" cy="723900"/>
          </a:xfrm>
          <a:prstGeom prst="roundRect">
            <a:avLst>
              <a:gd name="adj" fmla="val 26316"/>
            </a:avLst>
          </a:prstGeom>
          <a:solidFill>
            <a:srgbClr val="10B981">
              <a:alpha val="10000"/>
            </a:srgbClr>
          </a:solidFill>
          <a:ln w="7620">
            <a:solidFill>
              <a:srgbClr val="1E3A1E"/>
            </a:solidFill>
            <a:prstDash val="solid"/>
          </a:ln>
          <a:effectLst>
            <a:outerShdw sx="100000" sy="100000" kx="0" ky="0" algn="bl" rotWithShape="0" blurRad="228600" dist="50800" dir="16200000">
              <a:srgbClr val="10B981">
                <a:alpha val="2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9531" y="2970609"/>
            <a:ext cx="361950" cy="3619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637178" y="3723084"/>
            <a:ext cx="434677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216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 · APPLICATION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6637178" y="4058364"/>
            <a:ext cx="434677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+ Express on Render</a:t>
            </a:r>
            <a:endParaRPr lang="en-US" sz="2025" dirty="0"/>
          </a:p>
        </p:txBody>
      </p:sp>
      <p:sp>
        <p:nvSpPr>
          <p:cNvPr id="16" name="Text 11"/>
          <p:cNvSpPr/>
          <p:nvPr/>
        </p:nvSpPr>
        <p:spPr>
          <a:xfrm>
            <a:off x="6637178" y="4431744"/>
            <a:ext cx="434677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</a:t>
            </a:r>
            <a:endParaRPr lang="en-US" sz="18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4521" y="3563064"/>
            <a:ext cx="438150" cy="43815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11842671" y="2458164"/>
            <a:ext cx="5397461" cy="2647950"/>
          </a:xfrm>
          <a:prstGeom prst="roundRect">
            <a:avLst>
              <a:gd name="adj" fmla="val 8633"/>
            </a:avLst>
          </a:prstGeom>
          <a:solidFill>
            <a:srgbClr val="142014"/>
          </a:solidFill>
          <a:ln w="7620">
            <a:solidFill>
              <a:srgbClr val="1E3A1E"/>
            </a:solidFill>
            <a:prstDash val="solid"/>
          </a:ln>
          <a:effectLst>
            <a:outerShdw sx="100000" sy="100000" kx="0" ky="0" algn="bl" rotWithShape="0" blurRad="228600" dist="50800" dir="16200000">
              <a:srgbClr val="10B981">
                <a:alpha val="22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14179391" y="2789634"/>
            <a:ext cx="723900" cy="723900"/>
          </a:xfrm>
          <a:prstGeom prst="roundRect">
            <a:avLst>
              <a:gd name="adj" fmla="val 26316"/>
            </a:avLst>
          </a:prstGeom>
          <a:solidFill>
            <a:srgbClr val="10B981">
              <a:alpha val="10000"/>
            </a:srgbClr>
          </a:solidFill>
          <a:ln w="7620">
            <a:solidFill>
              <a:srgbClr val="1E3A1E"/>
            </a:solidFill>
            <a:prstDash val="solid"/>
          </a:ln>
          <a:effectLst>
            <a:outerShdw sx="100000" sy="100000" kx="0" ky="0" algn="bl" rotWithShape="0" blurRad="228600" dist="50800" dir="16200000">
              <a:srgbClr val="10B981">
                <a:alpha val="22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60366" y="2970609"/>
            <a:ext cx="361950" cy="36195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024637" y="3723084"/>
            <a:ext cx="503352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216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 · DATA</a:t>
            </a:r>
            <a:endParaRPr lang="en-US" sz="1800" dirty="0"/>
          </a:p>
        </p:txBody>
      </p:sp>
      <p:sp>
        <p:nvSpPr>
          <p:cNvPr id="22" name="Text 15"/>
          <p:cNvSpPr/>
          <p:nvPr/>
        </p:nvSpPr>
        <p:spPr>
          <a:xfrm>
            <a:off x="12024637" y="4058364"/>
            <a:ext cx="503352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Atlas</a:t>
            </a:r>
            <a:endParaRPr lang="en-US" sz="2025" dirty="0"/>
          </a:p>
        </p:txBody>
      </p:sp>
      <p:sp>
        <p:nvSpPr>
          <p:cNvPr id="23" name="Text 16"/>
          <p:cNvSpPr/>
          <p:nvPr/>
        </p:nvSpPr>
        <p:spPr>
          <a:xfrm>
            <a:off x="12024637" y="4431744"/>
            <a:ext cx="503352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database</a:t>
            </a:r>
            <a:endParaRPr lang="en-US" sz="1800" dirty="0"/>
          </a:p>
        </p:txBody>
      </p:sp>
      <p:sp>
        <p:nvSpPr>
          <p:cNvPr id="24" name="Shape 17"/>
          <p:cNvSpPr/>
          <p:nvPr/>
        </p:nvSpPr>
        <p:spPr>
          <a:xfrm>
            <a:off x="1047750" y="5525214"/>
            <a:ext cx="3986689" cy="1272540"/>
          </a:xfrm>
          <a:prstGeom prst="roundRect">
            <a:avLst>
              <a:gd name="adj" fmla="val 17964"/>
            </a:avLst>
          </a:prstGeom>
          <a:solidFill>
            <a:srgbClr val="142014"/>
          </a:solidFill>
          <a:ln w="7620">
            <a:solidFill>
              <a:srgbClr val="1E3A1E"/>
            </a:solidFill>
            <a:prstDash val="solid"/>
          </a:ln>
          <a:effectLst>
            <a:outerShdw sx="100000" sy="100000" kx="0" ky="0" algn="bl" rotWithShape="0" blurRad="228600" dist="50800" dir="16200000">
              <a:srgbClr val="10B981">
                <a:alpha val="2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1360170" y="5894784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10B981">
              <a:alpha val="10000"/>
            </a:srgbClr>
          </a:solidFill>
          <a:ln w="7620">
            <a:solidFill>
              <a:srgbClr val="1E3A1E"/>
            </a:solidFill>
            <a:prstDash val="solid"/>
          </a:ln>
          <a:effectLst>
            <a:outerShdw sx="100000" sy="100000" kx="0" ky="0" algn="bl" rotWithShape="0" blurRad="228600" dist="50800" dir="16200000">
              <a:srgbClr val="10B981">
                <a:alpha val="22000"/>
              </a:srgbClr>
            </a:outerShdw>
          </a:effectLst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5895" y="5980509"/>
            <a:ext cx="361950" cy="36195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2084070" y="5875734"/>
            <a:ext cx="2717087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SERVICE</a:t>
            </a:r>
            <a:endParaRPr lang="en-US" sz="1800" dirty="0"/>
          </a:p>
        </p:txBody>
      </p:sp>
      <p:sp>
        <p:nvSpPr>
          <p:cNvPr id="28" name="Text 20"/>
          <p:cNvSpPr/>
          <p:nvPr/>
        </p:nvSpPr>
        <p:spPr>
          <a:xfrm>
            <a:off x="2084070" y="6172914"/>
            <a:ext cx="271708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I Been Pwned API</a:t>
            </a:r>
            <a:endParaRPr lang="en-US" sz="1875" dirty="0"/>
          </a:p>
        </p:txBody>
      </p:sp>
      <p:sp>
        <p:nvSpPr>
          <p:cNvPr id="29" name="Shape 21"/>
          <p:cNvSpPr/>
          <p:nvPr/>
        </p:nvSpPr>
        <p:spPr>
          <a:xfrm>
            <a:off x="5301139" y="5525214"/>
            <a:ext cx="11939112" cy="1272540"/>
          </a:xfrm>
          <a:prstGeom prst="roundRect">
            <a:avLst>
              <a:gd name="adj" fmla="val 14970"/>
            </a:avLst>
          </a:prstGeom>
          <a:solidFill>
            <a:srgbClr val="10B981">
              <a:alpha val="12000"/>
            </a:srgbClr>
          </a:solidFill>
          <a:ln w="7620">
            <a:solidFill>
              <a:srgbClr val="10B981">
                <a:alpha val="40000"/>
              </a:srgbClr>
            </a:solidFill>
            <a:prstDash val="solid"/>
          </a:ln>
          <a:effectLst>
            <a:outerShdw sx="100000" sy="100000" kx="0" ky="0" algn="bl" rotWithShape="0" blurRad="228600" dist="50800" dir="16200000">
              <a:srgbClr val="10B981">
                <a:alpha val="22000"/>
              </a:srgbClr>
            </a:outerShdw>
          </a:effectLst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1659" y="5818584"/>
            <a:ext cx="381000" cy="38100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261259" y="5818584"/>
            <a:ext cx="1094732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SHA-1 hashing happens entirely in the browser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raw password never leaves the client at any point in the flow.</a:t>
            </a:r>
            <a:endParaRPr lang="en-US" sz="1800" dirty="0"/>
          </a:p>
        </p:txBody>
      </p:sp>
      <p:sp>
        <p:nvSpPr>
          <p:cNvPr id="32" name="Text 23"/>
          <p:cNvSpPr/>
          <p:nvPr/>
        </p:nvSpPr>
        <p:spPr>
          <a:xfrm>
            <a:off x="16940213" y="9265920"/>
            <a:ext cx="37623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667827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576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DESIGN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25880"/>
            <a:ext cx="16678275" cy="751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b="1" spc="-108" kern="0" dirty="0">
                <a:solidFill>
                  <a:srgbClr val="F1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threat has a deliberate mitigation.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047750" y="2458164"/>
            <a:ext cx="330573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storage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4428649" y="2465784"/>
            <a:ext cx="3048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828699" y="2458164"/>
            <a:ext cx="429759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 hashing, 10 salt rounds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047750" y="2903934"/>
            <a:ext cx="330573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security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4428649" y="2911555"/>
            <a:ext cx="3048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28699" y="2903934"/>
            <a:ext cx="429759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tokens expire after 7 days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047750" y="3349705"/>
            <a:ext cx="330573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abuse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4428649" y="3357324"/>
            <a:ext cx="3048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28699" y="3349705"/>
            <a:ext cx="429759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limiting on all endpoints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1047750" y="3795474"/>
            <a:ext cx="330573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attacks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4428649" y="3803094"/>
            <a:ext cx="3048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28699" y="3795474"/>
            <a:ext cx="429759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&amp; sanitised server-side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047750" y="4241244"/>
            <a:ext cx="330573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4428649" y="4248864"/>
            <a:ext cx="3048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28699" y="4241244"/>
            <a:ext cx="429759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 variables, never hardcoded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047750" y="4687014"/>
            <a:ext cx="330573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4428649" y="4694634"/>
            <a:ext cx="3048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828699" y="4687014"/>
            <a:ext cx="429759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enforced in production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9286875" y="2458164"/>
            <a:ext cx="7953375" cy="3215640"/>
          </a:xfrm>
          <a:prstGeom prst="roundRect">
            <a:avLst>
              <a:gd name="adj" fmla="val 5924"/>
            </a:avLst>
          </a:prstGeom>
          <a:solidFill>
            <a:srgbClr val="10B981">
              <a:alpha val="12000"/>
            </a:srgbClr>
          </a:solidFill>
          <a:ln w="7620">
            <a:solidFill>
              <a:srgbClr val="10B981">
                <a:alpha val="40000"/>
              </a:srgbClr>
            </a:solidFill>
            <a:prstDash val="solid"/>
          </a:ln>
          <a:effectLst>
            <a:outerShdw sx="100000" sy="100000" kx="0" ky="0" algn="bl" rotWithShape="0" blurRad="228600" dist="50800" dir="16200000">
              <a:srgbClr val="10B981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637395" y="2751534"/>
            <a:ext cx="723900" cy="723900"/>
          </a:xfrm>
          <a:prstGeom prst="roundRect">
            <a:avLst>
              <a:gd name="adj" fmla="val 26316"/>
            </a:avLst>
          </a:prstGeom>
          <a:solidFill>
            <a:srgbClr val="10B981">
              <a:alpha val="10000"/>
            </a:srgbClr>
          </a:solidFill>
          <a:ln w="7620">
            <a:solidFill>
              <a:srgbClr val="1E3A1E"/>
            </a:solidFill>
            <a:prstDash val="solid"/>
          </a:ln>
          <a:effectLst>
            <a:outerShdw sx="100000" sy="100000" kx="0" ky="0" algn="bl" rotWithShape="0" blurRad="228600" dist="50800" dir="16200000">
              <a:srgbClr val="10B981">
                <a:alpha val="22000"/>
              </a:srgbClr>
            </a:outerShdw>
          </a:effectLst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8845" y="2922984"/>
            <a:ext cx="381000" cy="38100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0532745" y="2942034"/>
            <a:ext cx="192214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k-Anonymity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9637395" y="3665934"/>
            <a:ext cx="7469905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</a:t>
            </a:r>
            <a:pPr algn="l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5 characters of the SHA-1 hash </a:t>
            </a:r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ever sent to HIBP. The full password — and even its full hash — never touches an external server. This is the most technically significant security decision in the project.</a:t>
            </a:r>
            <a:endParaRPr lang="en-US" sz="2250" dirty="0"/>
          </a:p>
        </p:txBody>
      </p:sp>
      <p:sp>
        <p:nvSpPr>
          <p:cNvPr id="27" name="Text 24"/>
          <p:cNvSpPr/>
          <p:nvPr/>
        </p:nvSpPr>
        <p:spPr>
          <a:xfrm>
            <a:off x="16940213" y="9265920"/>
            <a:ext cx="37623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667827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576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25880"/>
            <a:ext cx="16678275" cy="751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b="1" spc="-108" kern="0" dirty="0">
                <a:solidFill>
                  <a:srgbClr val="F1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user flow, end to end.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047750" y="4703802"/>
            <a:ext cx="60960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228600" dist="50800" dir="16200000">
              <a:srgbClr val="10B981">
                <a:alpha val="22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809750" y="4703802"/>
            <a:ext cx="7279577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types a password — </a:t>
            </a:r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zxcvbn scores it instantly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entirely in the browser.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410700" y="4703802"/>
            <a:ext cx="60960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228600" dist="50800" dir="16200000">
              <a:srgbClr val="10B981">
                <a:alpha val="22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0172700" y="4703802"/>
            <a:ext cx="7279577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 bar, label, crack time, and suggestions update in real time — </a:t>
            </a:r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network call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047750" y="5644872"/>
            <a:ext cx="60960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228600" dist="50800" dir="16200000">
              <a:srgbClr val="10B981">
                <a:alpha val="22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809750" y="5644872"/>
            <a:ext cx="7279577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clicks "Check for Breaches" — </a:t>
            </a:r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SHA-1 hash is computed locally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browser.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410700" y="5644872"/>
            <a:ext cx="60960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228600" dist="50800" dir="16200000">
              <a:srgbClr val="10B981">
                <a:alpha val="22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0172700" y="5644872"/>
            <a:ext cx="7279577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5 hash characters go to HIBP, which </a:t>
            </a:r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all matching suffixes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047750" y="6585942"/>
            <a:ext cx="60960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228600" dist="50800" dir="16200000">
              <a:srgbClr val="10B981">
                <a:alpha val="22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1809750" y="6585942"/>
            <a:ext cx="7279577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 checks locally for a full-hash match — </a:t>
            </a:r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safe/unsafe and breach count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410700" y="6585942"/>
            <a:ext cx="60960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228600" dist="50800" dir="16200000">
              <a:srgbClr val="10B981">
                <a:alpha val="22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0172700" y="6585942"/>
            <a:ext cx="7279577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logged-in users, the result is </a:t>
            </a:r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with a masked password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(p*****rd) and timestamp.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6940213" y="9265920"/>
            <a:ext cx="37623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667827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576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DESIGN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25880"/>
            <a:ext cx="16678275" cy="751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b="1" spc="-108" kern="0" dirty="0">
                <a:solidFill>
                  <a:srgbClr val="F1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lean collections — and no stored passwords.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047750" y="2458164"/>
            <a:ext cx="7934325" cy="3758565"/>
          </a:xfrm>
          <a:prstGeom prst="roundRect">
            <a:avLst>
              <a:gd name="adj" fmla="val 6082"/>
            </a:avLst>
          </a:prstGeom>
          <a:solidFill>
            <a:srgbClr val="142014"/>
          </a:solidFill>
          <a:ln w="7620">
            <a:solidFill>
              <a:srgbClr val="1E3A1E"/>
            </a:solidFill>
            <a:prstDash val="solid"/>
          </a:ln>
          <a:effectLst>
            <a:outerShdw sx="100000" sy="100000" kx="0" ky="0" algn="bl" rotWithShape="0" blurRad="228600" dist="50800" dir="16200000">
              <a:srgbClr val="10B981">
                <a:alpha val="2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8270" y="2780109"/>
            <a:ext cx="285750" cy="2857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17370" y="2770584"/>
            <a:ext cx="87903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1398270" y="3627834"/>
            <a:ext cx="7233285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398270" y="3265884"/>
            <a:ext cx="48910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_id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530465" y="3265884"/>
            <a:ext cx="11772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ObjectId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398270" y="4102180"/>
            <a:ext cx="7233285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1398270" y="3740230"/>
            <a:ext cx="11772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805738" y="3740230"/>
            <a:ext cx="9020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1398270" y="4576524"/>
            <a:ext cx="7233285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1398270" y="4214574"/>
            <a:ext cx="76438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567011" y="4214574"/>
            <a:ext cx="214074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· unique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398270" y="5050869"/>
            <a:ext cx="7233285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1398270" y="4688919"/>
            <a:ext cx="11772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7117556" y="4688919"/>
            <a:ext cx="159019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bcrypt hash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398270" y="5163264"/>
            <a:ext cx="131492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createdAt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8081010" y="5163264"/>
            <a:ext cx="6267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9305925" y="2458164"/>
            <a:ext cx="7934325" cy="3758565"/>
          </a:xfrm>
          <a:prstGeom prst="roundRect">
            <a:avLst>
              <a:gd name="adj" fmla="val 6082"/>
            </a:avLst>
          </a:prstGeom>
          <a:solidFill>
            <a:srgbClr val="142014"/>
          </a:solidFill>
          <a:ln w="7620">
            <a:solidFill>
              <a:srgbClr val="1E3A1E"/>
            </a:solidFill>
            <a:prstDash val="solid"/>
          </a:ln>
          <a:effectLst>
            <a:outerShdw sx="100000" sy="100000" kx="0" ky="0" algn="bl" rotWithShape="0" blurRad="228600" dist="50800" dir="16200000">
              <a:srgbClr val="10B981">
                <a:alpha val="22000"/>
              </a:srgbClr>
            </a:outerShdw>
          </a:effectLst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6445" y="2780109"/>
            <a:ext cx="285750" cy="28575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0075545" y="2770584"/>
            <a:ext cx="200310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checkhistory</a:t>
            </a:r>
            <a:endParaRPr lang="en-US" sz="2100" dirty="0"/>
          </a:p>
        </p:txBody>
      </p:sp>
      <p:sp>
        <p:nvSpPr>
          <p:cNvPr id="24" name="Shape 20"/>
          <p:cNvSpPr/>
          <p:nvPr/>
        </p:nvSpPr>
        <p:spPr>
          <a:xfrm>
            <a:off x="9656445" y="3627834"/>
            <a:ext cx="7233285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25" name="Text 21"/>
          <p:cNvSpPr/>
          <p:nvPr/>
        </p:nvSpPr>
        <p:spPr>
          <a:xfrm>
            <a:off x="9656445" y="3265884"/>
            <a:ext cx="9020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userId</a:t>
            </a:r>
            <a:endParaRPr lang="en-US" sz="1800" dirty="0"/>
          </a:p>
        </p:txBody>
      </p:sp>
      <p:sp>
        <p:nvSpPr>
          <p:cNvPr id="26" name="Text 22"/>
          <p:cNvSpPr/>
          <p:nvPr/>
        </p:nvSpPr>
        <p:spPr>
          <a:xfrm>
            <a:off x="14962823" y="3265884"/>
            <a:ext cx="200310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ObjectId · ref</a:t>
            </a:r>
            <a:endParaRPr lang="en-US" sz="1800" dirty="0"/>
          </a:p>
        </p:txBody>
      </p:sp>
      <p:sp>
        <p:nvSpPr>
          <p:cNvPr id="27" name="Shape 23"/>
          <p:cNvSpPr/>
          <p:nvPr/>
        </p:nvSpPr>
        <p:spPr>
          <a:xfrm>
            <a:off x="9656445" y="4102180"/>
            <a:ext cx="7233285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28" name="Text 24"/>
          <p:cNvSpPr/>
          <p:nvPr/>
        </p:nvSpPr>
        <p:spPr>
          <a:xfrm>
            <a:off x="9656445" y="3740230"/>
            <a:ext cx="200310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maskedPassword</a:t>
            </a:r>
            <a:endParaRPr lang="en-US" sz="1800" dirty="0"/>
          </a:p>
        </p:txBody>
      </p:sp>
      <p:sp>
        <p:nvSpPr>
          <p:cNvPr id="29" name="Text 25"/>
          <p:cNvSpPr/>
          <p:nvPr/>
        </p:nvSpPr>
        <p:spPr>
          <a:xfrm>
            <a:off x="16063912" y="3740230"/>
            <a:ext cx="9020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800" dirty="0"/>
          </a:p>
        </p:txBody>
      </p:sp>
      <p:sp>
        <p:nvSpPr>
          <p:cNvPr id="30" name="Shape 26"/>
          <p:cNvSpPr/>
          <p:nvPr/>
        </p:nvSpPr>
        <p:spPr>
          <a:xfrm>
            <a:off x="9656445" y="4576524"/>
            <a:ext cx="7233285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31" name="Text 27"/>
          <p:cNvSpPr/>
          <p:nvPr/>
        </p:nvSpPr>
        <p:spPr>
          <a:xfrm>
            <a:off x="9656445" y="4214574"/>
            <a:ext cx="159019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breachFound</a:t>
            </a:r>
            <a:endParaRPr lang="en-US" sz="1800" dirty="0"/>
          </a:p>
        </p:txBody>
      </p:sp>
      <p:sp>
        <p:nvSpPr>
          <p:cNvPr id="32" name="Text 28"/>
          <p:cNvSpPr/>
          <p:nvPr/>
        </p:nvSpPr>
        <p:spPr>
          <a:xfrm>
            <a:off x="15926277" y="4214574"/>
            <a:ext cx="103965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endParaRPr lang="en-US" sz="1800" dirty="0"/>
          </a:p>
        </p:txBody>
      </p:sp>
      <p:sp>
        <p:nvSpPr>
          <p:cNvPr id="33" name="Shape 29"/>
          <p:cNvSpPr/>
          <p:nvPr/>
        </p:nvSpPr>
        <p:spPr>
          <a:xfrm>
            <a:off x="9656445" y="5050869"/>
            <a:ext cx="7233285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34" name="Text 30"/>
          <p:cNvSpPr/>
          <p:nvPr/>
        </p:nvSpPr>
        <p:spPr>
          <a:xfrm>
            <a:off x="9656445" y="4688919"/>
            <a:ext cx="159019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breachCount</a:t>
            </a:r>
            <a:endParaRPr lang="en-US" sz="1800" dirty="0"/>
          </a:p>
        </p:txBody>
      </p:sp>
      <p:sp>
        <p:nvSpPr>
          <p:cNvPr id="35" name="Text 31"/>
          <p:cNvSpPr/>
          <p:nvPr/>
        </p:nvSpPr>
        <p:spPr>
          <a:xfrm>
            <a:off x="16063912" y="4688919"/>
            <a:ext cx="9020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endParaRPr lang="en-US" sz="1800" dirty="0"/>
          </a:p>
        </p:txBody>
      </p:sp>
      <p:sp>
        <p:nvSpPr>
          <p:cNvPr id="36" name="Shape 32"/>
          <p:cNvSpPr/>
          <p:nvPr/>
        </p:nvSpPr>
        <p:spPr>
          <a:xfrm>
            <a:off x="9656445" y="5525214"/>
            <a:ext cx="7233285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37" name="Text 33"/>
          <p:cNvSpPr/>
          <p:nvPr/>
        </p:nvSpPr>
        <p:spPr>
          <a:xfrm>
            <a:off x="9656445" y="5163264"/>
            <a:ext cx="186547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strengthScore</a:t>
            </a:r>
            <a:endParaRPr lang="en-US" sz="1800" dirty="0"/>
          </a:p>
        </p:txBody>
      </p:sp>
      <p:sp>
        <p:nvSpPr>
          <p:cNvPr id="38" name="Text 34"/>
          <p:cNvSpPr/>
          <p:nvPr/>
        </p:nvSpPr>
        <p:spPr>
          <a:xfrm>
            <a:off x="15238095" y="5163264"/>
            <a:ext cx="17278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 · 0–4</a:t>
            </a:r>
            <a:endParaRPr lang="en-US" sz="1800" dirty="0"/>
          </a:p>
        </p:txBody>
      </p:sp>
      <p:sp>
        <p:nvSpPr>
          <p:cNvPr id="39" name="Text 35"/>
          <p:cNvSpPr/>
          <p:nvPr/>
        </p:nvSpPr>
        <p:spPr>
          <a:xfrm>
            <a:off x="9656445" y="5637609"/>
            <a:ext cx="131492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checkedAt</a:t>
            </a:r>
            <a:endParaRPr lang="en-US" sz="1800" dirty="0"/>
          </a:p>
        </p:txBody>
      </p:sp>
      <p:sp>
        <p:nvSpPr>
          <p:cNvPr id="40" name="Text 36"/>
          <p:cNvSpPr/>
          <p:nvPr/>
        </p:nvSpPr>
        <p:spPr>
          <a:xfrm>
            <a:off x="16339185" y="5637609"/>
            <a:ext cx="6267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1800" dirty="0"/>
          </a:p>
        </p:txBody>
      </p:sp>
      <p:sp>
        <p:nvSpPr>
          <p:cNvPr id="41" name="Text 37"/>
          <p:cNvSpPr/>
          <p:nvPr/>
        </p:nvSpPr>
        <p:spPr>
          <a:xfrm>
            <a:off x="1047750" y="6521529"/>
            <a:ext cx="5297805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stored: </a:t>
            </a:r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passwords, in any form.</a:t>
            </a:r>
            <a:endParaRPr lang="en-US" sz="1800" dirty="0"/>
          </a:p>
        </p:txBody>
      </p:sp>
      <p:sp>
        <p:nvSpPr>
          <p:cNvPr id="42" name="Text 38"/>
          <p:cNvSpPr/>
          <p:nvPr/>
        </p:nvSpPr>
        <p:spPr>
          <a:xfrm>
            <a:off x="6572250" y="6521529"/>
            <a:ext cx="5297805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 only: </a:t>
            </a:r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display representation for history.</a:t>
            </a:r>
            <a:endParaRPr lang="en-US" sz="1800" dirty="0"/>
          </a:p>
        </p:txBody>
      </p:sp>
      <p:sp>
        <p:nvSpPr>
          <p:cNvPr id="43" name="Text 39"/>
          <p:cNvSpPr/>
          <p:nvPr/>
        </p:nvSpPr>
        <p:spPr>
          <a:xfrm>
            <a:off x="12096750" y="6521529"/>
            <a:ext cx="5297805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Referenced, not embedded: </a:t>
            </a:r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userId keeps queries fast.</a:t>
            </a:r>
            <a:endParaRPr lang="en-US" sz="1800" dirty="0"/>
          </a:p>
        </p:txBody>
      </p:sp>
      <p:sp>
        <p:nvSpPr>
          <p:cNvPr id="44" name="Text 40"/>
          <p:cNvSpPr/>
          <p:nvPr/>
        </p:nvSpPr>
        <p:spPr>
          <a:xfrm>
            <a:off x="16940213" y="9265920"/>
            <a:ext cx="37623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667827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576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ENDPOINTS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25880"/>
            <a:ext cx="16678275" cy="751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b="1" spc="-108" kern="0" dirty="0">
                <a:solidFill>
                  <a:srgbClr val="F1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small, predictable REST surface.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047750" y="2458164"/>
            <a:ext cx="16192500" cy="4396740"/>
          </a:xfrm>
          <a:prstGeom prst="roundRect">
            <a:avLst>
              <a:gd name="adj" fmla="val 4766"/>
            </a:avLst>
          </a:prstGeom>
          <a:ln w="7620">
            <a:solidFill>
              <a:srgbClr val="1E3A1E"/>
            </a:solidFill>
            <a:prstDash val="solid"/>
          </a:ln>
          <a:effectLst>
            <a:outerShdw sx="100000" sy="100000" kx="0" ky="0" algn="bl" rotWithShape="0" blurRad="228600" dist="50800" dir="16200000">
              <a:srgbClr val="10B981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5370" y="2465784"/>
            <a:ext cx="2264807" cy="643890"/>
          </a:xfrm>
          <a:prstGeom prst="rect">
            <a:avLst/>
          </a:prstGeom>
          <a:solidFill>
            <a:srgbClr val="10B981">
              <a:alpha val="1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55370" y="3102054"/>
            <a:ext cx="2264807" cy="9525"/>
          </a:xfrm>
          <a:prstGeom prst="rect">
            <a:avLst/>
          </a:prstGeom>
          <a:solidFill>
            <a:srgbClr val="1E3A1E"/>
          </a:solidFill>
          <a:ln/>
        </p:spPr>
      </p:sp>
      <p:sp>
        <p:nvSpPr>
          <p:cNvPr id="7" name="Text 5"/>
          <p:cNvSpPr/>
          <p:nvPr/>
        </p:nvSpPr>
        <p:spPr>
          <a:xfrm>
            <a:off x="1303020" y="2656284"/>
            <a:ext cx="1845707" cy="293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320177" y="2465784"/>
            <a:ext cx="5500211" cy="643890"/>
          </a:xfrm>
          <a:prstGeom prst="rect">
            <a:avLst/>
          </a:prstGeom>
          <a:solidFill>
            <a:srgbClr val="10B981">
              <a:alpha val="1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320177" y="3102054"/>
            <a:ext cx="5500211" cy="9525"/>
          </a:xfrm>
          <a:prstGeom prst="rect">
            <a:avLst/>
          </a:prstGeom>
          <a:solidFill>
            <a:srgbClr val="1E3A1E"/>
          </a:solidFill>
          <a:ln/>
        </p:spPr>
      </p:sp>
      <p:sp>
        <p:nvSpPr>
          <p:cNvPr id="10" name="Text 8"/>
          <p:cNvSpPr/>
          <p:nvPr/>
        </p:nvSpPr>
        <p:spPr>
          <a:xfrm>
            <a:off x="3567827" y="2656284"/>
            <a:ext cx="5169918" cy="293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820388" y="2465784"/>
            <a:ext cx="5823942" cy="643890"/>
          </a:xfrm>
          <a:prstGeom prst="rect">
            <a:avLst/>
          </a:prstGeom>
          <a:solidFill>
            <a:srgbClr val="10B981">
              <a:alpha val="1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820388" y="3102054"/>
            <a:ext cx="5823942" cy="9525"/>
          </a:xfrm>
          <a:prstGeom prst="rect">
            <a:avLst/>
          </a:prstGeom>
          <a:solidFill>
            <a:srgbClr val="1E3A1E"/>
          </a:solidFill>
          <a:ln/>
        </p:spPr>
      </p:sp>
      <p:sp>
        <p:nvSpPr>
          <p:cNvPr id="13" name="Text 11"/>
          <p:cNvSpPr/>
          <p:nvPr/>
        </p:nvSpPr>
        <p:spPr>
          <a:xfrm>
            <a:off x="9068038" y="2656284"/>
            <a:ext cx="5503360" cy="293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4644331" y="2465784"/>
            <a:ext cx="2588300" cy="643890"/>
          </a:xfrm>
          <a:prstGeom prst="rect">
            <a:avLst/>
          </a:prstGeom>
          <a:solidFill>
            <a:srgbClr val="10B981">
              <a:alpha val="1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4644331" y="3102054"/>
            <a:ext cx="2588300" cy="9525"/>
          </a:xfrm>
          <a:prstGeom prst="rect">
            <a:avLst/>
          </a:prstGeom>
          <a:solidFill>
            <a:srgbClr val="1E3A1E"/>
          </a:solidFill>
          <a:ln/>
        </p:spPr>
      </p:sp>
      <p:sp>
        <p:nvSpPr>
          <p:cNvPr id="16" name="Text 14"/>
          <p:cNvSpPr/>
          <p:nvPr/>
        </p:nvSpPr>
        <p:spPr>
          <a:xfrm>
            <a:off x="14891981" y="2656284"/>
            <a:ext cx="2170649" cy="293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55370" y="3109674"/>
            <a:ext cx="2264807" cy="746760"/>
          </a:xfrm>
          <a:prstGeom prst="rect">
            <a:avLst/>
          </a:prstGeom>
          <a:solidFill>
            <a:srgbClr val="142014">
              <a:alpha val="5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55370" y="3848814"/>
            <a:ext cx="2264807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303020" y="3284934"/>
            <a:ext cx="869037" cy="396240"/>
          </a:xfrm>
          <a:prstGeom prst="roundRect">
            <a:avLst>
              <a:gd name="adj" fmla="val 19231"/>
            </a:avLst>
          </a:prstGeom>
          <a:solidFill>
            <a:srgbClr val="F59E0B">
              <a:alpha val="14000"/>
            </a:srgbClr>
          </a:solidFill>
          <a:ln w="7620">
            <a:solidFill>
              <a:srgbClr val="F59E0B">
                <a:alpha val="3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43990" y="3349704"/>
            <a:ext cx="66329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2" kern="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320177" y="3109674"/>
            <a:ext cx="5500211" cy="746760"/>
          </a:xfrm>
          <a:prstGeom prst="rect">
            <a:avLst/>
          </a:prstGeom>
          <a:solidFill>
            <a:srgbClr val="142014">
              <a:alpha val="5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320177" y="3848814"/>
            <a:ext cx="5500211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3567827" y="3281124"/>
            <a:ext cx="5169918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/api/auth/register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820388" y="3109674"/>
            <a:ext cx="5823942" cy="746760"/>
          </a:xfrm>
          <a:prstGeom prst="rect">
            <a:avLst/>
          </a:prstGeom>
          <a:solidFill>
            <a:srgbClr val="142014">
              <a:alpha val="5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820388" y="3848814"/>
            <a:ext cx="5823942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9068038" y="3281124"/>
            <a:ext cx="5503360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a new user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4644331" y="3109674"/>
            <a:ext cx="2588300" cy="746760"/>
          </a:xfrm>
          <a:prstGeom prst="rect">
            <a:avLst/>
          </a:prstGeom>
          <a:solidFill>
            <a:srgbClr val="142014">
              <a:alpha val="5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4644331" y="3848814"/>
            <a:ext cx="2588300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4891981" y="3281124"/>
            <a:ext cx="2170649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055370" y="4595574"/>
            <a:ext cx="2264807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303020" y="4031694"/>
            <a:ext cx="869037" cy="396240"/>
          </a:xfrm>
          <a:prstGeom prst="roundRect">
            <a:avLst>
              <a:gd name="adj" fmla="val 19231"/>
            </a:avLst>
          </a:prstGeom>
          <a:solidFill>
            <a:srgbClr val="F59E0B">
              <a:alpha val="14000"/>
            </a:srgbClr>
          </a:solidFill>
          <a:ln w="7620">
            <a:solidFill>
              <a:srgbClr val="F59E0B">
                <a:alpha val="3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43990" y="4096464"/>
            <a:ext cx="66329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2" kern="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3320177" y="4595574"/>
            <a:ext cx="5500211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3567827" y="4027884"/>
            <a:ext cx="5169918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/api/auth/login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8820388" y="4595574"/>
            <a:ext cx="5823942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9068038" y="4027884"/>
            <a:ext cx="5503360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in and receive a JWT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4644331" y="4595574"/>
            <a:ext cx="2588300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14891981" y="4027884"/>
            <a:ext cx="2170649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055370" y="4603194"/>
            <a:ext cx="2264807" cy="746760"/>
          </a:xfrm>
          <a:prstGeom prst="rect">
            <a:avLst/>
          </a:prstGeom>
          <a:solidFill>
            <a:srgbClr val="142014">
              <a:alpha val="5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055370" y="5342334"/>
            <a:ext cx="2264807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303020" y="4778455"/>
            <a:ext cx="869037" cy="396240"/>
          </a:xfrm>
          <a:prstGeom prst="roundRect">
            <a:avLst>
              <a:gd name="adj" fmla="val 19231"/>
            </a:avLst>
          </a:prstGeom>
          <a:solidFill>
            <a:srgbClr val="F59E0B">
              <a:alpha val="14000"/>
            </a:srgbClr>
          </a:solidFill>
          <a:ln w="7620">
            <a:solidFill>
              <a:srgbClr val="F59E0B">
                <a:alpha val="3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443990" y="4843225"/>
            <a:ext cx="66329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2" kern="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3320177" y="4603194"/>
            <a:ext cx="5500211" cy="746760"/>
          </a:xfrm>
          <a:prstGeom prst="rect">
            <a:avLst/>
          </a:prstGeom>
          <a:solidFill>
            <a:srgbClr val="142014">
              <a:alpha val="5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3320177" y="5342334"/>
            <a:ext cx="5500211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3567827" y="4774644"/>
            <a:ext cx="5169918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/api/password/check-breach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8820388" y="4603194"/>
            <a:ext cx="5823942" cy="746760"/>
          </a:xfrm>
          <a:prstGeom prst="rect">
            <a:avLst/>
          </a:prstGeom>
          <a:solidFill>
            <a:srgbClr val="142014">
              <a:alpha val="5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820388" y="5342334"/>
            <a:ext cx="5823942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9068038" y="4774644"/>
            <a:ext cx="5503360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a password against HIBP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14644331" y="4603194"/>
            <a:ext cx="2588300" cy="746760"/>
          </a:xfrm>
          <a:prstGeom prst="rect">
            <a:avLst/>
          </a:prstGeom>
          <a:solidFill>
            <a:srgbClr val="142014">
              <a:alpha val="5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4644331" y="5342334"/>
            <a:ext cx="2588300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14891981" y="4774644"/>
            <a:ext cx="2170649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1055370" y="6089094"/>
            <a:ext cx="2264807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303020" y="5525214"/>
            <a:ext cx="722352" cy="396240"/>
          </a:xfrm>
          <a:prstGeom prst="roundRect">
            <a:avLst>
              <a:gd name="adj" fmla="val 19231"/>
            </a:avLst>
          </a:prstGeom>
          <a:solidFill>
            <a:srgbClr val="10B981">
              <a:alpha val="14000"/>
            </a:srgbClr>
          </a:solidFill>
          <a:ln w="762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443990" y="5589984"/>
            <a:ext cx="51661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2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3320177" y="6089094"/>
            <a:ext cx="5500211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3567827" y="5521404"/>
            <a:ext cx="5169918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/api/history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8820388" y="6089094"/>
            <a:ext cx="5823942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9068038" y="5521404"/>
            <a:ext cx="5503360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check history for the user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4644331" y="6089094"/>
            <a:ext cx="2588300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14891981" y="5521404"/>
            <a:ext cx="2170649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1055370" y="6096714"/>
            <a:ext cx="2264807" cy="746760"/>
          </a:xfrm>
          <a:prstGeom prst="rect">
            <a:avLst/>
          </a:prstGeom>
          <a:solidFill>
            <a:srgbClr val="142014">
              <a:alpha val="5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055370" y="6835855"/>
            <a:ext cx="2264807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303020" y="6271975"/>
            <a:ext cx="1162645" cy="396240"/>
          </a:xfrm>
          <a:prstGeom prst="roundRect">
            <a:avLst>
              <a:gd name="adj" fmla="val 19231"/>
            </a:avLst>
          </a:prstGeom>
          <a:solidFill>
            <a:srgbClr val="F43F5E">
              <a:alpha val="14000"/>
            </a:srgbClr>
          </a:solidFill>
          <a:ln w="7620">
            <a:solidFill>
              <a:srgbClr val="F43F5E">
                <a:alpha val="38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443990" y="6336745"/>
            <a:ext cx="95690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2" kern="0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3320177" y="6096714"/>
            <a:ext cx="5500211" cy="746760"/>
          </a:xfrm>
          <a:prstGeom prst="rect">
            <a:avLst/>
          </a:prstGeom>
          <a:solidFill>
            <a:srgbClr val="142014">
              <a:alpha val="5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3320177" y="6835855"/>
            <a:ext cx="5500211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3567827" y="6268164"/>
            <a:ext cx="5169918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/api/history/:id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8820388" y="6096714"/>
            <a:ext cx="5823942" cy="746760"/>
          </a:xfrm>
          <a:prstGeom prst="rect">
            <a:avLst/>
          </a:prstGeom>
          <a:solidFill>
            <a:srgbClr val="142014">
              <a:alpha val="5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8820388" y="6835855"/>
            <a:ext cx="5823942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9068038" y="6268164"/>
            <a:ext cx="5503360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a specific history entry</a:t>
            </a:r>
            <a:endParaRPr lang="en-US" sz="1800" dirty="0"/>
          </a:p>
        </p:txBody>
      </p:sp>
      <p:sp>
        <p:nvSpPr>
          <p:cNvPr id="71" name="Shape 69"/>
          <p:cNvSpPr/>
          <p:nvPr/>
        </p:nvSpPr>
        <p:spPr>
          <a:xfrm>
            <a:off x="14644331" y="6096714"/>
            <a:ext cx="2588300" cy="746760"/>
          </a:xfrm>
          <a:prstGeom prst="rect">
            <a:avLst/>
          </a:prstGeom>
          <a:solidFill>
            <a:srgbClr val="142014">
              <a:alpha val="55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14644331" y="6835855"/>
            <a:ext cx="2588300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14891981" y="6268164"/>
            <a:ext cx="2170649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800" dirty="0"/>
          </a:p>
        </p:txBody>
      </p:sp>
      <p:sp>
        <p:nvSpPr>
          <p:cNvPr id="74" name="Text 72"/>
          <p:cNvSpPr/>
          <p:nvPr/>
        </p:nvSpPr>
        <p:spPr>
          <a:xfrm>
            <a:off x="16940213" y="9265920"/>
            <a:ext cx="37623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667827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576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25880"/>
            <a:ext cx="16678275" cy="751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b="1" spc="-108" kern="0" dirty="0">
                <a:solidFill>
                  <a:srgbClr val="F1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across function, API, and security.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047750" y="2458164"/>
            <a:ext cx="16192500" cy="3749040"/>
          </a:xfrm>
          <a:prstGeom prst="roundRect">
            <a:avLst>
              <a:gd name="adj" fmla="val 5589"/>
            </a:avLst>
          </a:prstGeom>
          <a:ln w="7620">
            <a:solidFill>
              <a:srgbClr val="1E3A1E"/>
            </a:solidFill>
            <a:prstDash val="solid"/>
          </a:ln>
          <a:effectLst>
            <a:outerShdw sx="100000" sy="100000" kx="0" ky="0" algn="bl" rotWithShape="0" blurRad="228600" dist="50800" dir="16200000">
              <a:srgbClr val="10B981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5370" y="2465784"/>
            <a:ext cx="4206002" cy="643890"/>
          </a:xfrm>
          <a:prstGeom prst="rect">
            <a:avLst/>
          </a:prstGeom>
          <a:solidFill>
            <a:srgbClr val="10B981">
              <a:alpha val="1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55370" y="3102054"/>
            <a:ext cx="4206002" cy="9525"/>
          </a:xfrm>
          <a:prstGeom prst="rect">
            <a:avLst/>
          </a:prstGeom>
          <a:solidFill>
            <a:srgbClr val="1E3A1E"/>
          </a:solidFill>
          <a:ln/>
        </p:spPr>
      </p:sp>
      <p:sp>
        <p:nvSpPr>
          <p:cNvPr id="7" name="Text 5"/>
          <p:cNvSpPr/>
          <p:nvPr/>
        </p:nvSpPr>
        <p:spPr>
          <a:xfrm>
            <a:off x="1303020" y="2656284"/>
            <a:ext cx="3836882" cy="293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TYPE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261372" y="2465784"/>
            <a:ext cx="8412361" cy="643890"/>
          </a:xfrm>
          <a:prstGeom prst="rect">
            <a:avLst/>
          </a:prstGeom>
          <a:solidFill>
            <a:srgbClr val="10B981">
              <a:alpha val="1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261372" y="3102054"/>
            <a:ext cx="8412361" cy="9525"/>
          </a:xfrm>
          <a:prstGeom prst="rect">
            <a:avLst/>
          </a:prstGeom>
          <a:solidFill>
            <a:srgbClr val="1E3A1E"/>
          </a:solidFill>
          <a:ln/>
        </p:spPr>
      </p:sp>
      <p:sp>
        <p:nvSpPr>
          <p:cNvPr id="10" name="Text 8"/>
          <p:cNvSpPr/>
          <p:nvPr/>
        </p:nvSpPr>
        <p:spPr>
          <a:xfrm>
            <a:off x="5509022" y="2656284"/>
            <a:ext cx="8169432" cy="293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TESTED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3673733" y="2465784"/>
            <a:ext cx="3558897" cy="643890"/>
          </a:xfrm>
          <a:prstGeom prst="rect">
            <a:avLst/>
          </a:prstGeom>
          <a:solidFill>
            <a:srgbClr val="10B981">
              <a:alpha val="1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3673733" y="3102054"/>
            <a:ext cx="3558897" cy="9525"/>
          </a:xfrm>
          <a:prstGeom prst="rect">
            <a:avLst/>
          </a:prstGeom>
          <a:solidFill>
            <a:srgbClr val="1E3A1E"/>
          </a:solidFill>
          <a:ln/>
        </p:spPr>
      </p:sp>
      <p:sp>
        <p:nvSpPr>
          <p:cNvPr id="13" name="Text 11"/>
          <p:cNvSpPr/>
          <p:nvPr/>
        </p:nvSpPr>
        <p:spPr>
          <a:xfrm>
            <a:off x="13921383" y="2656284"/>
            <a:ext cx="3170364" cy="293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55370" y="3109674"/>
            <a:ext cx="4206002" cy="617220"/>
          </a:xfrm>
          <a:prstGeom prst="rect">
            <a:avLst/>
          </a:prstGeom>
          <a:solidFill>
            <a:srgbClr val="142014">
              <a:alpha val="5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55370" y="3719274"/>
            <a:ext cx="4206002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303020" y="3281124"/>
            <a:ext cx="383688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functional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261372" y="3109674"/>
            <a:ext cx="8412361" cy="617220"/>
          </a:xfrm>
          <a:prstGeom prst="rect">
            <a:avLst/>
          </a:prstGeom>
          <a:solidFill>
            <a:srgbClr val="142014">
              <a:alpha val="5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261372" y="3719274"/>
            <a:ext cx="8412361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509022" y="3281124"/>
            <a:ext cx="816943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user-facing features work as expected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3673733" y="3109674"/>
            <a:ext cx="3558897" cy="617220"/>
          </a:xfrm>
          <a:prstGeom prst="rect">
            <a:avLst/>
          </a:prstGeom>
          <a:solidFill>
            <a:srgbClr val="142014">
              <a:alpha val="5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3673733" y="3719274"/>
            <a:ext cx="3558897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3921383" y="3281124"/>
            <a:ext cx="317036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Browser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055370" y="4336494"/>
            <a:ext cx="4206002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303020" y="3898344"/>
            <a:ext cx="383688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testing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261372" y="4336494"/>
            <a:ext cx="8412361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509022" y="3898344"/>
            <a:ext cx="816943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 return correct responses &amp; status codes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3673733" y="4336494"/>
            <a:ext cx="3558897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3921383" y="3898344"/>
            <a:ext cx="317036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Postman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055370" y="4344114"/>
            <a:ext cx="4206002" cy="617220"/>
          </a:xfrm>
          <a:prstGeom prst="rect">
            <a:avLst/>
          </a:prstGeom>
          <a:solidFill>
            <a:srgbClr val="142014">
              <a:alpha val="5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055370" y="4953715"/>
            <a:ext cx="4206002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303020" y="4515564"/>
            <a:ext cx="383688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testing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5261372" y="4344114"/>
            <a:ext cx="8412361" cy="617220"/>
          </a:xfrm>
          <a:prstGeom prst="rect">
            <a:avLst/>
          </a:prstGeom>
          <a:solidFill>
            <a:srgbClr val="142014">
              <a:alpha val="5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261372" y="4953715"/>
            <a:ext cx="8412361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5509022" y="4515564"/>
            <a:ext cx="816943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display on mobile and desktop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3673733" y="4344114"/>
            <a:ext cx="3558897" cy="617220"/>
          </a:xfrm>
          <a:prstGeom prst="rect">
            <a:avLst/>
          </a:prstGeom>
          <a:solidFill>
            <a:srgbClr val="142014">
              <a:alpha val="5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3673733" y="4953715"/>
            <a:ext cx="3558897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3921383" y="4515564"/>
            <a:ext cx="317036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Chrome DevTools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055370" y="5570934"/>
            <a:ext cx="4206002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1303020" y="5132784"/>
            <a:ext cx="383688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testing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5261372" y="5570934"/>
            <a:ext cx="8412361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5509022" y="5132784"/>
            <a:ext cx="816943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 checker never transmits raw passwords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3673733" y="5570934"/>
            <a:ext cx="3558897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13921383" y="5132784"/>
            <a:ext cx="317036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 tab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1055370" y="5578554"/>
            <a:ext cx="4206002" cy="617220"/>
          </a:xfrm>
          <a:prstGeom prst="rect">
            <a:avLst/>
          </a:prstGeom>
          <a:solidFill>
            <a:srgbClr val="142014">
              <a:alpha val="5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055370" y="6188154"/>
            <a:ext cx="4206002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1303020" y="5750004"/>
            <a:ext cx="383688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case testing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5261372" y="5578554"/>
            <a:ext cx="8412361" cy="617220"/>
          </a:xfrm>
          <a:prstGeom prst="rect">
            <a:avLst/>
          </a:prstGeom>
          <a:solidFill>
            <a:srgbClr val="142014">
              <a:alpha val="5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261372" y="6188154"/>
            <a:ext cx="8412361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5509022" y="5750004"/>
            <a:ext cx="816943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 input, very long passwords, special characters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13673733" y="5578554"/>
            <a:ext cx="3558897" cy="617220"/>
          </a:xfrm>
          <a:prstGeom prst="rect">
            <a:avLst/>
          </a:prstGeom>
          <a:solidFill>
            <a:srgbClr val="142014">
              <a:alpha val="5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3673733" y="6188154"/>
            <a:ext cx="3558897" cy="9525"/>
          </a:xfrm>
          <a:prstGeom prst="rect">
            <a:avLst/>
          </a:prstGeom>
          <a:solidFill>
            <a:srgbClr val="163016">
              <a:alpha val="13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13921383" y="5750004"/>
            <a:ext cx="317036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Manual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16957120" y="9265920"/>
            <a:ext cx="359331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667827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576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SOLUTIONS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25880"/>
            <a:ext cx="16678275" cy="751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b="1" spc="-108" kern="0" dirty="0">
                <a:solidFill>
                  <a:srgbClr val="F1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hard — and how we solved it.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047750" y="2458164"/>
            <a:ext cx="7962900" cy="1684020"/>
          </a:xfrm>
          <a:prstGeom prst="roundRect">
            <a:avLst>
              <a:gd name="adj" fmla="val 13575"/>
            </a:avLst>
          </a:prstGeom>
          <a:solidFill>
            <a:srgbClr val="142014"/>
          </a:solidFill>
          <a:ln w="7620">
            <a:solidFill>
              <a:srgbClr val="1E3A1E"/>
            </a:solidFill>
            <a:prstDash val="solid"/>
          </a:ln>
          <a:effectLst>
            <a:outerShdw sx="100000" sy="100000" kx="0" ky="0" algn="bl" rotWithShape="0" blurRad="228600" dist="50800" dir="16200000">
              <a:srgbClr val="10B981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98270" y="2770584"/>
            <a:ext cx="747971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DURING BREACH CHECKING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8270" y="3201114"/>
            <a:ext cx="266700" cy="2667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98320" y="3163014"/>
            <a:ext cx="706766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k-Anonymity with client-side SHA-1 — HIBP never sees the real password.</a:t>
            </a:r>
            <a:endParaRPr lang="en-US" sz="1875" dirty="0"/>
          </a:p>
        </p:txBody>
      </p:sp>
      <p:sp>
        <p:nvSpPr>
          <p:cNvPr id="8" name="Shape 5"/>
          <p:cNvSpPr/>
          <p:nvPr/>
        </p:nvSpPr>
        <p:spPr>
          <a:xfrm>
            <a:off x="9277350" y="2458164"/>
            <a:ext cx="7962900" cy="1684020"/>
          </a:xfrm>
          <a:prstGeom prst="roundRect">
            <a:avLst>
              <a:gd name="adj" fmla="val 13575"/>
            </a:avLst>
          </a:prstGeom>
          <a:solidFill>
            <a:srgbClr val="142014"/>
          </a:solidFill>
          <a:ln w="7620">
            <a:solidFill>
              <a:srgbClr val="1E3A1E"/>
            </a:solidFill>
            <a:prstDash val="solid"/>
          </a:ln>
          <a:effectLst>
            <a:outerShdw sx="100000" sy="100000" kx="0" ky="0" algn="bl" rotWithShape="0" blurRad="228600" dist="50800" dir="16200000">
              <a:srgbClr val="10B981">
                <a:alpha val="2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627870" y="2770584"/>
            <a:ext cx="747971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ANALYSIS WITHOUT LAG</a:t>
            </a:r>
            <a:endParaRPr lang="en-US" sz="18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7870" y="3201114"/>
            <a:ext cx="266700" cy="2667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027920" y="3163014"/>
            <a:ext cx="706766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zxcvbn runs entirely in-browser — zero network calls for scoring.</a:t>
            </a:r>
            <a:endParaRPr lang="en-US" sz="1875" dirty="0"/>
          </a:p>
        </p:txBody>
      </p:sp>
      <p:sp>
        <p:nvSpPr>
          <p:cNvPr id="12" name="Shape 8"/>
          <p:cNvSpPr/>
          <p:nvPr/>
        </p:nvSpPr>
        <p:spPr>
          <a:xfrm>
            <a:off x="1047750" y="4408884"/>
            <a:ext cx="7962900" cy="1684020"/>
          </a:xfrm>
          <a:prstGeom prst="roundRect">
            <a:avLst>
              <a:gd name="adj" fmla="val 13575"/>
            </a:avLst>
          </a:prstGeom>
          <a:solidFill>
            <a:srgbClr val="142014"/>
          </a:solidFill>
          <a:ln w="7620">
            <a:solidFill>
              <a:srgbClr val="1E3A1E"/>
            </a:solidFill>
            <a:prstDash val="solid"/>
          </a:ln>
          <a:effectLst>
            <a:outerShdw sx="100000" sy="100000" kx="0" ky="0" algn="bl" rotWithShape="0" blurRad="228600" dist="50800" dir="16200000">
              <a:srgbClr val="10B981">
                <a:alpha val="2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1398270" y="4721305"/>
            <a:ext cx="747971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WITHOUT STORING PASSWORDS</a:t>
            </a:r>
            <a:endParaRPr lang="en-US" sz="18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270" y="5151834"/>
            <a:ext cx="266700" cy="2667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798320" y="5113734"/>
            <a:ext cx="706766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 representation only — the real value is never persisted.</a:t>
            </a:r>
            <a:endParaRPr lang="en-US" sz="1875" dirty="0"/>
          </a:p>
        </p:txBody>
      </p:sp>
      <p:sp>
        <p:nvSpPr>
          <p:cNvPr id="16" name="Shape 11"/>
          <p:cNvSpPr/>
          <p:nvPr/>
        </p:nvSpPr>
        <p:spPr>
          <a:xfrm>
            <a:off x="9277350" y="4408884"/>
            <a:ext cx="7962900" cy="1684020"/>
          </a:xfrm>
          <a:prstGeom prst="roundRect">
            <a:avLst>
              <a:gd name="adj" fmla="val 13575"/>
            </a:avLst>
          </a:prstGeom>
          <a:solidFill>
            <a:srgbClr val="142014"/>
          </a:solidFill>
          <a:ln w="7620">
            <a:solidFill>
              <a:srgbClr val="1E3A1E"/>
            </a:solidFill>
            <a:prstDash val="solid"/>
          </a:ln>
          <a:effectLst>
            <a:outerShdw sx="100000" sy="100000" kx="0" ky="0" algn="bl" rotWithShape="0" blurRad="228600" dist="50800" dir="16200000">
              <a:srgbClr val="10B981">
                <a:alpha val="22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9627870" y="4721305"/>
            <a:ext cx="747971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SECURING THE API FROM ABUSE</a:t>
            </a:r>
            <a:endParaRPr lang="en-US" sz="18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7870" y="5151834"/>
            <a:ext cx="266700" cy="2667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027920" y="5113734"/>
            <a:ext cx="706766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limiting, JWT auth, server-side validation, and HTTPS throughout.</a:t>
            </a:r>
            <a:endParaRPr lang="en-US" sz="1875" dirty="0"/>
          </a:p>
        </p:txBody>
      </p:sp>
      <p:sp>
        <p:nvSpPr>
          <p:cNvPr id="20" name="Text 14"/>
          <p:cNvSpPr/>
          <p:nvPr/>
        </p:nvSpPr>
        <p:spPr>
          <a:xfrm>
            <a:off x="16940213" y="9265920"/>
            <a:ext cx="37623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667827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576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25880"/>
            <a:ext cx="16678275" cy="751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b="1" spc="-108" kern="0" dirty="0">
                <a:solidFill>
                  <a:srgbClr val="F1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PassGuard in action.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047750" y="2458164"/>
            <a:ext cx="7953375" cy="3390543"/>
          </a:xfrm>
          <a:prstGeom prst="roundRect">
            <a:avLst>
              <a:gd name="adj" fmla="val 5619"/>
            </a:avLst>
          </a:prstGeom>
          <a:solidFill>
            <a:srgbClr val="142014"/>
          </a:solidFill>
          <a:ln w="7620">
            <a:solidFill>
              <a:srgbClr val="1E3A1E"/>
            </a:solidFill>
            <a:prstDash val="solid"/>
          </a:ln>
          <a:effectLst>
            <a:outerShdw sx="100000" sy="100000" kx="0" ky="0" algn="bl" rotWithShape="0" blurRad="228600" dist="50800" dir="16200000">
              <a:srgbClr val="10B981">
                <a:alpha val="2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5363" y="3715226"/>
            <a:ext cx="438150" cy="4381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71832" y="4324826"/>
            <a:ext cx="567036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strength checker — bar + suggestions ]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9286875" y="2458164"/>
            <a:ext cx="7953375" cy="3390543"/>
          </a:xfrm>
          <a:prstGeom prst="roundRect">
            <a:avLst>
              <a:gd name="adj" fmla="val 5619"/>
            </a:avLst>
          </a:prstGeom>
          <a:solidFill>
            <a:srgbClr val="142014"/>
          </a:solidFill>
          <a:ln w="7620">
            <a:solidFill>
              <a:srgbClr val="1E3A1E"/>
            </a:solidFill>
            <a:prstDash val="solid"/>
          </a:ln>
          <a:effectLst>
            <a:outerShdw sx="100000" sy="100000" kx="0" ky="0" algn="bl" rotWithShape="0" blurRad="228600" dist="50800" dir="16200000">
              <a:srgbClr val="10B981">
                <a:alpha val="2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4488" y="3715226"/>
            <a:ext cx="438150" cy="4381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855048" y="4324826"/>
            <a:ext cx="496154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breach result — safe vs. unsafe ]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1047750" y="6134458"/>
            <a:ext cx="7953375" cy="3390543"/>
          </a:xfrm>
          <a:prstGeom prst="roundRect">
            <a:avLst>
              <a:gd name="adj" fmla="val 5619"/>
            </a:avLst>
          </a:prstGeom>
          <a:solidFill>
            <a:srgbClr val="142014"/>
          </a:solidFill>
          <a:ln w="7620">
            <a:solidFill>
              <a:srgbClr val="1E3A1E"/>
            </a:solidFill>
            <a:prstDash val="solid"/>
          </a:ln>
          <a:effectLst>
            <a:outerShdw sx="100000" sy="100000" kx="0" ky="0" algn="bl" rotWithShape="0" blurRad="228600" dist="50800" dir="16200000">
              <a:srgbClr val="10B981">
                <a:alpha val="22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5363" y="7391519"/>
            <a:ext cx="438150" cy="4381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510439" y="8001119"/>
            <a:ext cx="311871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check history page ]</a:t>
            </a:r>
            <a:endParaRPr lang="en-US" sz="1800" dirty="0"/>
          </a:p>
        </p:txBody>
      </p:sp>
      <p:sp>
        <p:nvSpPr>
          <p:cNvPr id="13" name="Shape 8"/>
          <p:cNvSpPr/>
          <p:nvPr/>
        </p:nvSpPr>
        <p:spPr>
          <a:xfrm>
            <a:off x="9286875" y="6134458"/>
            <a:ext cx="7953375" cy="3390543"/>
          </a:xfrm>
          <a:prstGeom prst="roundRect">
            <a:avLst>
              <a:gd name="adj" fmla="val 5619"/>
            </a:avLst>
          </a:prstGeom>
          <a:solidFill>
            <a:srgbClr val="142014"/>
          </a:solidFill>
          <a:ln w="7620">
            <a:solidFill>
              <a:srgbClr val="1E3A1E"/>
            </a:solidFill>
            <a:prstDash val="solid"/>
          </a:ln>
          <a:effectLst>
            <a:outerShdw sx="100000" sy="100000" kx="0" ky="0" algn="bl" rotWithShape="0" blurRad="228600" dist="50800" dir="16200000">
              <a:srgbClr val="10B981">
                <a:alpha val="22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44488" y="7391519"/>
            <a:ext cx="438150" cy="4381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061502" y="8001119"/>
            <a:ext cx="453624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registration &amp; login screens ]</a:t>
            </a:r>
            <a:endParaRPr lang="en-US" sz="1800" dirty="0"/>
          </a:p>
        </p:txBody>
      </p:sp>
      <p:sp>
        <p:nvSpPr>
          <p:cNvPr id="16" name="Text 10"/>
          <p:cNvSpPr/>
          <p:nvPr/>
        </p:nvSpPr>
        <p:spPr>
          <a:xfrm>
            <a:off x="16940213" y="9265920"/>
            <a:ext cx="37623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667827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576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25880"/>
            <a:ext cx="16678275" cy="751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b="1" spc="-108" kern="0" dirty="0">
                <a:solidFill>
                  <a:srgbClr val="F1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private tool for strength and breach checking.</a:t>
            </a:r>
            <a:endParaRPr lang="en-US" sz="5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2496264"/>
            <a:ext cx="285750" cy="285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4950" y="2458164"/>
            <a:ext cx="8399964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real-time strength analysis and breach detection in </a:t>
            </a:r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secure tool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3544014"/>
            <a:ext cx="285750" cy="285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04950" y="3505914"/>
            <a:ext cx="8399964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</a:t>
            </a:r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industry-standard MERN technologies 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deployed to the cloud.</a:t>
            </a:r>
            <a:endParaRPr lang="en-US" sz="22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4591764"/>
            <a:ext cx="285750" cy="2857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504950" y="4553664"/>
            <a:ext cx="8399964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Privacy-first: </a:t>
            </a:r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raw password ever leaves the browser 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at any point.</a:t>
            </a:r>
            <a:endParaRPr lang="en-US" sz="22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" y="5639514"/>
            <a:ext cx="285750" cy="2857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504950" y="5601414"/>
            <a:ext cx="767163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Usable by non-technical people </a:t>
            </a:r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any instructions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50" dirty="0"/>
          </a:p>
        </p:txBody>
      </p:sp>
      <p:sp>
        <p:nvSpPr>
          <p:cNvPr id="12" name="Shape 6"/>
          <p:cNvSpPr/>
          <p:nvPr/>
        </p:nvSpPr>
        <p:spPr>
          <a:xfrm>
            <a:off x="10193656" y="2458164"/>
            <a:ext cx="7046595" cy="7066836"/>
          </a:xfrm>
          <a:prstGeom prst="roundRect">
            <a:avLst>
              <a:gd name="adj" fmla="val 3244"/>
            </a:avLst>
          </a:prstGeom>
          <a:solidFill>
            <a:srgbClr val="142014"/>
          </a:solidFill>
          <a:ln w="7620">
            <a:solidFill>
              <a:srgbClr val="1E3A1E"/>
            </a:solidFill>
            <a:prstDash val="solid"/>
          </a:ln>
          <a:effectLst>
            <a:outerShdw sx="100000" sy="100000" kx="0" ky="0" algn="bl" rotWithShape="0" blurRad="228600" dist="50800" dir="16200000">
              <a:srgbClr val="10B981">
                <a:alpha val="22000"/>
              </a:srgbClr>
            </a:outerShdw>
          </a:effectLst>
        </p:spPr>
      </p:sp>
      <p:sp>
        <p:nvSpPr>
          <p:cNvPr id="13" name="Text 7"/>
          <p:cNvSpPr/>
          <p:nvPr/>
        </p:nvSpPr>
        <p:spPr>
          <a:xfrm>
            <a:off x="10582275" y="4941927"/>
            <a:ext cx="645743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10582275" y="5429608"/>
            <a:ext cx="645743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dashboard</a:t>
            </a:r>
            <a:endParaRPr lang="en-US" sz="1875" dirty="0"/>
          </a:p>
        </p:txBody>
      </p:sp>
      <p:sp>
        <p:nvSpPr>
          <p:cNvPr id="15" name="Text 9"/>
          <p:cNvSpPr/>
          <p:nvPr/>
        </p:nvSpPr>
        <p:spPr>
          <a:xfrm>
            <a:off x="10582275" y="5875377"/>
            <a:ext cx="645743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manager integration</a:t>
            </a:r>
            <a:endParaRPr lang="en-US" sz="1875" dirty="0"/>
          </a:p>
        </p:txBody>
      </p:sp>
      <p:sp>
        <p:nvSpPr>
          <p:cNvPr id="16" name="Text 10"/>
          <p:cNvSpPr/>
          <p:nvPr/>
        </p:nvSpPr>
        <p:spPr>
          <a:xfrm>
            <a:off x="10582275" y="6321147"/>
            <a:ext cx="645743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extension</a:t>
            </a:r>
            <a:endParaRPr lang="en-US" sz="1875" dirty="0"/>
          </a:p>
        </p:txBody>
      </p:sp>
      <p:sp>
        <p:nvSpPr>
          <p:cNvPr id="17" name="Text 11"/>
          <p:cNvSpPr/>
          <p:nvPr/>
        </p:nvSpPr>
        <p:spPr>
          <a:xfrm>
            <a:off x="10582275" y="6766917"/>
            <a:ext cx="645743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login</a:t>
            </a:r>
            <a:endParaRPr lang="en-US" sz="1875" dirty="0"/>
          </a:p>
        </p:txBody>
      </p:sp>
      <p:sp>
        <p:nvSpPr>
          <p:cNvPr id="18" name="Text 12"/>
          <p:cNvSpPr/>
          <p:nvPr/>
        </p:nvSpPr>
        <p:spPr>
          <a:xfrm>
            <a:off x="16940213" y="9265920"/>
            <a:ext cx="37623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48650" y="2080260"/>
            <a:ext cx="1790700" cy="1790700"/>
          </a:xfrm>
          <a:prstGeom prst="ellipse">
            <a:avLst/>
          </a:prstGeom>
          <a:solidFill>
            <a:srgbClr val="10B981">
              <a:alpha val="16000"/>
            </a:srgbClr>
          </a:solidFill>
          <a:ln w="7620">
            <a:solidFill>
              <a:srgbClr val="10B981">
                <a:alpha val="45000"/>
              </a:srgbClr>
            </a:solidFill>
            <a:prstDash val="solid"/>
          </a:ln>
          <a:effectLst>
            <a:outerShdw sx="100000" sy="100000" kx="0" ky="0" algn="bl" rotWithShape="0" blurRad="571500" dist="50800" dir="16200000">
              <a:srgbClr val="10B981">
                <a:alpha val="3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4900" y="2556510"/>
            <a:ext cx="838200" cy="838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39791" y="4328160"/>
            <a:ext cx="5408299" cy="1181100"/>
          </a:xfrm>
          <a:prstGeom prst="rect">
            <a:avLst/>
          </a:prstGeom>
          <a:noFill/>
          <a:ln/>
          <a:effectLst>
            <a:outerShdw sx="100000" sy="100000" kx="0" ky="0" algn="bl" rotWithShape="0" blurRad="476250" dist="50800" dir="16200000">
              <a:srgbClr val="10B981">
                <a:alpha val="4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800" b="1" spc="-156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7800" dirty="0"/>
          </a:p>
        </p:txBody>
      </p:sp>
      <p:sp>
        <p:nvSpPr>
          <p:cNvPr id="5" name="Text 2"/>
          <p:cNvSpPr/>
          <p:nvPr/>
        </p:nvSpPr>
        <p:spPr>
          <a:xfrm>
            <a:off x="8152924" y="5718810"/>
            <a:ext cx="1982153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PassGuard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223986" y="6446520"/>
            <a:ext cx="4674275" cy="502920"/>
          </a:xfrm>
          <a:prstGeom prst="roundRect">
            <a:avLst>
              <a:gd name="adj" fmla="val 50000"/>
            </a:avLst>
          </a:prstGeom>
          <a:solidFill>
            <a:srgbClr val="10B981">
              <a:alpha val="7000"/>
            </a:srgbClr>
          </a:solidFill>
          <a:ln w="7620">
            <a:solidFill>
              <a:srgbClr val="1E3A1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09142" y="6568440"/>
            <a:ext cx="430396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Application Development · SEN 302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0050661" y="6446520"/>
            <a:ext cx="3013234" cy="502920"/>
          </a:xfrm>
          <a:prstGeom prst="roundRect">
            <a:avLst>
              <a:gd name="adj" fmla="val 50000"/>
            </a:avLst>
          </a:prstGeom>
          <a:solidFill>
            <a:srgbClr val="10B981">
              <a:alpha val="7000"/>
            </a:srgbClr>
          </a:solidFill>
          <a:ln w="7620">
            <a:solidFill>
              <a:srgbClr val="1E3A1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60732" y="6568440"/>
            <a:ext cx="2593091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Nile University of Nigeria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3748087" y="7387590"/>
            <a:ext cx="1079182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2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Abubakar Muhammad Sherif · Madu-Uwechie Chukwunonso Noel · Adriel Madukwe Ogbureke · Stefan Birch Olufikayo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2026-06-01T17:29:05Z</dcterms:created>
  <dcterms:modified xsi:type="dcterms:W3CDTF">2026-06-01T17:29:05Z</dcterms:modified>
</cp:coreProperties>
</file>